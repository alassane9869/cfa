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Honorables membres du jury, monsieur le président du jury, monsieur le directeur de mémoire, chers invités, bonjour.</a:t>
            </a:r>
          </a:p>
          <a:p/>
          <a:p>
            <a:r>
              <a:t>C’est un grand honneur et un réel plaisir pour moi de me présenter devant vous aujourd’hui pour clore mon cycle universitaire.</a:t>
            </a:r>
          </a:p>
          <a:p/>
          <a:p>
            <a:r>
              <a:t>Je m’appelle Cheick Tidiane FOMBA, et mon travail de recherche et de développement porte sur la conception et la réalisation d’un site vitrine moderne pour une boutique de mode de notre capitale, la boutique CFASHOP, située à Dialakorobougou.</a:t>
            </a:r>
          </a:p>
          <a:p/>
          <a:p>
            <a:r>
              <a:t>Mon ambition était toute simple : mettre l’informatique au service de nos commerçants locaux, pour leur offrir un outil pratique, élégant et parfaitement adapté à notre réalité malienne.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vous présenter ce projet avec clarté, voici le cheminement en douze points que nous allons parcourir ensemble.</a:t>
            </a:r>
          </a:p>
          <a:p/>
          <a:p>
            <a:r>
              <a:t>Après l’introduction et la problématique, nous verrons nos objectifs et notre méthode de terrain.</a:t>
            </a:r>
          </a:p>
          <a:p/>
          <a:p>
            <a:r>
              <a:t>Nous analyserons ensuite la situation avec les chiffres de notre enquête, avant de vous dévoiler la solution, son schéma de cas d’utilisation, sa réalisation technique et ses résultats.</a:t>
            </a:r>
          </a:p>
          <a:p/>
          <a:p>
            <a:r>
              <a:t>Enfin, nous évoquerons les obstacles surmontés, ferons une démonstration, et conclurons avec mes sincères remerciements.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par regarder la réalité autour de nous : aujourd'hui à Bamako, le smartphone est devenu le cœur battant de notre quotidien.</a:t>
            </a:r>
          </a:p>
          <a:p/>
          <a:p>
            <a:r>
              <a:t>Notre jeunesse est passionnée d'élégance, de belles baskets et de mode tendance. Mais avant de se déplacer sous le soleil vers une boutique, le premier geste d'un client est d'allumer son téléphone pour regarder les nouveaux arrivages et s'assurer de ce qu'il va trouver.</a:t>
            </a:r>
          </a:p>
          <a:p/>
          <a:p>
            <a:r>
              <a:t>Dans la mode, si vous n'avez pas une belle vitrine pour montrer vos vêtements, vous perdez la confiance de vos clients avant même qu'ils n'arrivent chez vous.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exactement le défi auquel faisait face la boutique CFASHOP à Dialakorobougou.</a:t>
            </a:r>
          </a:p>
          <a:p/>
          <a:p>
            <a:r>
              <a:t>Le gérant a de superbes collections, mais il vendait uniquement à travers ses statuts WhatsApp. Or, un statut ne dure que 24 heures et disparaît.</a:t>
            </a:r>
          </a:p>
          <a:p/>
          <a:p>
            <a:r>
              <a:t>Le gérant recevait 80 messages par jour qui posaient tous la même question : 'Bonjour chef, c'est combien ?'. Lorsqu'il était occupé à servir un client en magasin, il ne pouvait pas répondre à temps, et les prospects impatients allaient acheter ailleurs.</a:t>
            </a:r>
          </a:p>
          <a:p/>
          <a:p>
            <a:r>
              <a:t>Notre hypothèse de départ était donc très simple : en offrant un site léger, qui montre les vrais prix et qui relie le catalogue à WhatsApp en un clic, nous allions soulager le commerçant et satisfaire les clients.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transformer cette idée en réalité, nous nous sommes fixé des objectifs très clairs :</a:t>
            </a:r>
          </a:p>
          <a:p/>
          <a:p>
            <a:r>
              <a:t>Notre but général était de donner à CFASHOP une vitrine digne des grandes marques, mais accessible à tous sur smartphone.</a:t>
            </a:r>
          </a:p>
          <a:p/>
          <a:p>
            <a:r>
              <a:t>De façon concrète :</a:t>
            </a:r>
          </a:p>
          <a:p>
            <a:r>
              <a:t>Premièrement, garder les collections visibles jour et nuit.</a:t>
            </a:r>
          </a:p>
          <a:p>
            <a:r>
              <a:t>Deuxièmement, afficher la vérité des prix en FCFA pour créer la confiance.</a:t>
            </a:r>
          </a:p>
          <a:p>
            <a:r>
              <a:t>Troisièmement, automatiser la prise de commande grâce à un bouton WhatsApp intelligent.</a:t>
            </a:r>
          </a:p>
          <a:p>
            <a:r>
              <a:t>Et quatrièmement, permettre à tous les Bamakois de localiser facilement le magasin physique de Dialakorobougou.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bâtir notre solution, nous avons mené une enquête auprès de 45 clients réels de prêt-à-porter à Bamako.</a:t>
            </a:r>
          </a:p>
          <a:p/>
          <a:p>
            <a:r>
              <a:t>Regardez ce graphique tiré de notre dépouillement :</a:t>
            </a:r>
          </a:p>
          <a:p>
            <a:r>
              <a:t>Avec une note alarmante de 4,6 sur 5, l'obligation de demander le prix en message privé est le premier irritant qui fait fuir les acheteurs.</a:t>
            </a:r>
          </a:p>
          <a:p>
            <a:r>
              <a:t>Vient ensuite la disparition des photos en story (4,4 sur 5), et le doute permanent sur la disponibilité des tailles.</a:t>
            </a:r>
          </a:p>
          <a:p/>
          <a:p>
            <a:r>
              <a:t>Enfin, 91 % des personnes interrogées naviguent sur téléphone et préfèrent payer en cash à la livraison ou par Orange Money et Wave. Il fallait donc concevoir un système qui respecte ces habitudes.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solution que nous avons imaginée : le modèle 'Web-to-Store'.</a:t>
            </a:r>
          </a:p>
          <a:p/>
          <a:p>
            <a:r>
              <a:t>Comme vous le voyez sur ce schéma, le parcours est d'une grande fluidité :</a:t>
            </a:r>
          </a:p>
          <a:p>
            <a:r>
              <a:t>Le client découvre les habits sur le site vitrine et filtre facilement ce qu'il aime.</a:t>
            </a:r>
          </a:p>
          <a:p>
            <a:r>
              <a:t>Quand il choisit une paire de baskets, il clique sur un simple bouton.</a:t>
            </a:r>
          </a:p>
          <a:p>
            <a:r>
              <a:t>Ce bouton ouvre directement WhatsApp avec le nom du modèle, la pointure et le prix déjà écrits.</a:t>
            </a:r>
          </a:p>
          <a:p>
            <a:r>
              <a:t>Le client n'a plus qu'à envoyer le message, et convenir soit d'une livraison à domicile avec Orange Money, soit d'un passage en boutique à Dialakorobougou pour essayer. Tout se fait en moins de dix secondes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au centre de notre écran le diagramme officiel des cas d'utilisation UML qui structure le fonctionnement de notre site vitrine.</a:t>
            </a:r>
          </a:p>
          <a:p/>
          <a:p>
            <a:r>
              <a:t>Nous identifions clairement deux acteurs :</a:t>
            </a:r>
          </a:p>
          <a:p>
            <a:r>
              <a:t>D'une part, notre Visiteur, qui peut consulter la vitrine, filtrer les catégories, vérifier les pointures disponibles, commander directement sur WhatsApp et consulter le plan d'accès vers Dialakorobougou.</a:t>
            </a:r>
          </a:p>
          <a:p/>
          <a:p>
            <a:r>
              <a:t>D'autre part, le Gérant de la boutique, qui reçoit sur WhatsApp des messages prêts avec la taille et le modèle, et qui actualise facilement son catalogue en ligne.</a:t>
            </a:r>
          </a:p>
          <a:p/>
          <a:p>
            <a:r>
              <a:t>Ce schéma démontre la rigueur avec laquelle chaque fonctionnalité a été pensée pour être simple, utile et sans superflu.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le plan technique, nous avons fait le choix de la légèreté et de la vitesse.</a:t>
            </a:r>
          </a:p>
          <a:p/>
          <a:p>
            <a:r>
              <a:t>À Bamako, les connexions Internet peuvent parfois ralentir et les forfaits data sont précieux.</a:t>
            </a:r>
          </a:p>
          <a:p/>
          <a:p>
            <a:r>
              <a:t>Nous avons donc évité les frameworks trop lourds. Nous avons utilisé du HTML5 propre avec Bootstrap et Tailwind pour garantir un design somptueux sur téléphone.</a:t>
            </a:r>
          </a:p>
          <a:p>
            <a:r>
              <a:t>Surtout, nous avons converti toutes les photos de vêtements au format WebP : cela réduit leur poids de 75 % sans perdre leur éclat.</a:t>
            </a:r>
          </a:p>
          <a:p>
            <a:r>
              <a:t>Le résultat est là : la page entière pèse moins d'un demi-mégaoctet et s'affiche en moins d'une seconde. Le visiteur ne perd ni son temps, ni ses mégas.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Quels sont les fruits de ce travail ?</a:t>
            </a:r>
          </a:p>
          <a:p/>
          <a:p>
            <a:r>
              <a:t>Les résultats obtenus dépassent nos espérances :</a:t>
            </a:r>
          </a:p>
          <a:p>
            <a:r>
              <a:t>Plus de 95 % des personnes ayant testé le site trouvent la commande WhatsApp remarquablement simple.</a:t>
            </a:r>
          </a:p>
          <a:p/>
          <a:p>
            <a:r>
              <a:t>Pour le gérant de CFASHOP, c'est une véritable bouffée d'air frais : il nous a confirmé avoir divisé par quatre le temps passé à gérer chaque vente. Lorsqu'un client lui écrit désormais, c'est pour finaliser la livraison.</a:t>
            </a:r>
          </a:p>
          <a:p>
            <a:r>
              <a:t>La boutique a d'ailleurs signé l'attestation officielle de mise en exploitation qui se trouve dans les annexes de mon mémoire.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 entendu, nous avons rencontré quelques difficultés durant ce parcours.</a:t>
            </a:r>
          </a:p>
          <a:p/>
          <a:p>
            <a:r>
              <a:t>Il a fallu optimiser chaque photo pour les réseaux mobiles locaux et s'adapter au calendrier chargé du commerçant. Mais avec de la rigueur et de la patience, chaque défi a trouvé sa solution.</a:t>
            </a:r>
          </a:p>
          <a:p/>
          <a:p>
            <a:r>
              <a:t>Permettez-moi de vous illustrer le fonctionnement du site :</a:t>
            </a:r>
          </a:p>
          <a:p>
            <a:r>
              <a:t>Ici, la page d'accueil valorise la marque CFASHOP.</a:t>
            </a:r>
          </a:p>
          <a:p>
            <a:r>
              <a:t>En un clic sur le filtre 'Baskets', le catalogue s'actualise immédiatement.</a:t>
            </a:r>
          </a:p>
          <a:p>
            <a:r>
              <a:t>Et si nous cliquons sur cette paire de Jordan Olive à 45 000 FCFA, WhatsApp s'ouvre avec le message déjà rédigé vers le numéro officiel de la boutique. La promesse est tenue avec une simplicité totale.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conclusion, ce travail m'a appris qu'une bonne solution informatique n'est pas celle qui est la plus compliquée : c'est celle qui apporte une vraie solution avec élégance, simplicité et respect des personnes qui l'utilisent.</a:t>
            </a:r>
          </a:p>
          <a:p/>
          <a:p>
            <a:r>
              <a:t>Comme perspectives, nous souhaitons enrichir ce site avec un guide interactif des pointures et des alertes automatiques lors des nouveaux arrivages.</a:t>
            </a:r>
          </a:p>
          <a:p/>
          <a:p>
            <a:r>
              <a:t>Pour clore mon propos, je tiens à remercier du fond du cœur mon directeur de mémoire pour sa constante disponibilité et sa rigueur bienveillante.</a:t>
            </a:r>
          </a:p>
          <a:p>
            <a:r>
              <a:t>J'adresse mes respectueux remerciements à vous tous, membres du jury, pour l'honneur que vous me faites en examinant mon travail.</a:t>
            </a:r>
          </a:p>
          <a:p/>
          <a:p>
            <a:r>
              <a:t>Je vous remercie infiniment pour votre écoute et je me tiens avec grand plaisir à votre disposition pour vos questions et suggestions. Merci beaucoup.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12191695" cy="27432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cfashop.png"/>
          <p:cNvPicPr>
            <a:picLocks noChangeAspect="1"/>
          </p:cNvPicPr>
          <p:nvPr/>
        </p:nvPicPr>
        <p:blipFill>
          <a:blip r:embed="rId2"/>
          <a:stretch>
            <a:fillRect/>
          </a:stretch>
        </p:blipFill>
        <p:spPr>
          <a:xfrm>
            <a:off x="5303520" y="457200"/>
            <a:ext cx="1645920" cy="1645920"/>
          </a:xfrm>
          <a:prstGeom prst="rect">
            <a:avLst/>
          </a:prstGeom>
        </p:spPr>
      </p:pic>
      <p:sp>
        <p:nvSpPr>
          <p:cNvPr id="5" name="Rounded Rectangle 4"/>
          <p:cNvSpPr/>
          <p:nvPr/>
        </p:nvSpPr>
        <p:spPr>
          <a:xfrm>
            <a:off x="1371600" y="1463040"/>
            <a:ext cx="9445752" cy="4389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1463040"/>
            <a:ext cx="9445752" cy="91440"/>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37360" y="1737360"/>
            <a:ext cx="8686800" cy="3931920"/>
          </a:xfrm>
          <a:prstGeom prst="rect">
            <a:avLst/>
          </a:prstGeom>
          <a:noFill/>
        </p:spPr>
        <p:txBody>
          <a:bodyPr wrap="square">
            <a:spAutoFit/>
          </a:bodyPr>
          <a:lstStyle/>
          <a:p>
            <a:pPr algn="ctr">
              <a:defRPr sz="1100" b="1">
                <a:solidFill>
                  <a:srgbClr val="64748B"/>
                </a:solidFill>
                <a:latin typeface="Arial"/>
              </a:defRPr>
            </a:pPr>
            <a:r>
              <a:t>RÉPUBLIQUE DU MALI — MINISTÈRE DE L'ENSEIGNEMENT SUPÉRIEUR</a:t>
            </a:r>
          </a:p>
          <a:p>
            <a:pPr algn="ctr">
              <a:spcBef>
                <a:spcPts val="800"/>
              </a:spcBef>
              <a:defRPr sz="1200" b="1">
                <a:solidFill>
                  <a:srgbClr val="228B4E"/>
                </a:solidFill>
                <a:latin typeface="Arial"/>
              </a:defRPr>
            </a:pPr>
            <a:r>
              <a:t>SOUTENANCE DE FIN D'ÉTUDES — SESSION 2024–2025</a:t>
            </a:r>
          </a:p>
          <a:p>
            <a:pPr algn="ctr">
              <a:spcBef>
                <a:spcPts val="1200"/>
              </a:spcBef>
              <a:defRPr sz="2200" b="1">
                <a:solidFill>
                  <a:srgbClr val="125C36"/>
                </a:solidFill>
                <a:latin typeface="Arial"/>
              </a:defRPr>
            </a:pPr>
            <a:r>
              <a:t>Conception et Réalisation d'un Site Vitrine pour une Boutique de Mode et de Streetwear à Bamako</a:t>
            </a:r>
          </a:p>
          <a:p>
            <a:pPr algn="ctr">
              <a:spcBef>
                <a:spcPts val="600"/>
              </a:spcBef>
              <a:defRPr sz="1400">
                <a:solidFill>
                  <a:srgbClr val="D62828"/>
                </a:solidFill>
                <a:latin typeface="Arial"/>
              </a:defRPr>
            </a:pPr>
            <a:r>
              <a:t>Étude de cas concrète : Boutique CFASHOP (Dialakorobougou, Bamako)</a:t>
            </a:r>
          </a:p>
          <a:p>
            <a:pPr algn="ctr">
              <a:spcBef>
                <a:spcPts val="1000"/>
              </a:spcBef>
              <a:defRPr sz="1000">
                <a:solidFill>
                  <a:srgbClr val="E2E8F0"/>
                </a:solidFill>
              </a:defRPr>
            </a:pPr>
            <a:r>
              <a:t>────────────────────────────────────────</a:t>
            </a:r>
          </a:p>
          <a:p>
            <a:pPr algn="ctr">
              <a:spcBef>
                <a:spcPts val="1200"/>
              </a:spcBef>
              <a:defRPr sz="1300" b="1">
                <a:solidFill>
                  <a:srgbClr val="1E293B"/>
                </a:solidFill>
                <a:latin typeface="Arial"/>
              </a:defRPr>
            </a:pPr>
            <a:r>
              <a:t>Présenté par : Cheick Tidiane FOMBA  |  Sous la direction de : Monsieur le Directeur de Mémoire</a:t>
            </a:r>
          </a:p>
          <a:p>
            <a:pPr algn="ctr">
              <a:spcBef>
                <a:spcPts val="600"/>
              </a:spcBef>
              <a:defRPr sz="1100">
                <a:solidFill>
                  <a:srgbClr val="64748B"/>
                </a:solidFill>
                <a:latin typeface="Arial"/>
              </a:defRPr>
            </a:pPr>
            <a:r>
              <a:t>Entreprise d'accueil : CFASHOP Bamako  •  Contact : +223 98 34 59 71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STRUCTURE DE L'EXPOSÉ</a:t>
            </a:r>
          </a:p>
          <a:p>
            <a:pPr>
              <a:defRPr sz="2000" b="1">
                <a:solidFill>
                  <a:srgbClr val="125C36"/>
                </a:solidFill>
                <a:latin typeface="Arial"/>
              </a:defRPr>
            </a:pPr>
            <a:r>
              <a:t>Plan de la Présentation</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2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914400" y="1371600"/>
            <a:ext cx="48463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1371600"/>
            <a:ext cx="484632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1554480"/>
            <a:ext cx="438912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Première Partie : Cadrage &amp; Étude</a:t>
            </a:r>
          </a:p>
          <a:p>
            <a:pPr>
              <a:spcAft>
                <a:spcPts val="600"/>
              </a:spcAft>
              <a:defRPr sz="1100">
                <a:solidFill>
                  <a:srgbClr val="1E293B"/>
                </a:solidFill>
                <a:latin typeface="Arial"/>
              </a:defRPr>
            </a:pPr>
            <a:r>
              <a:t>•  1. Introduction &amp; Contexte</a:t>
            </a:r>
          </a:p>
          <a:p>
            <a:pPr>
              <a:spcAft>
                <a:spcPts val="600"/>
              </a:spcAft>
              <a:defRPr sz="1100">
                <a:solidFill>
                  <a:srgbClr val="1E293B"/>
                </a:solidFill>
                <a:latin typeface="Arial"/>
              </a:defRPr>
            </a:pPr>
            <a:r>
              <a:t>•  2. Problématique &amp; Hypothèse</a:t>
            </a:r>
          </a:p>
          <a:p>
            <a:pPr>
              <a:spcAft>
                <a:spcPts val="600"/>
              </a:spcAft>
              <a:defRPr sz="1100">
                <a:solidFill>
                  <a:srgbClr val="1E293B"/>
                </a:solidFill>
                <a:latin typeface="Arial"/>
              </a:defRPr>
            </a:pPr>
            <a:r>
              <a:t>•  3. Objectifs du Projet</a:t>
            </a:r>
          </a:p>
          <a:p>
            <a:pPr>
              <a:spcAft>
                <a:spcPts val="600"/>
              </a:spcAft>
              <a:defRPr sz="1100">
                <a:solidFill>
                  <a:srgbClr val="1E293B"/>
                </a:solidFill>
                <a:latin typeface="Arial"/>
              </a:defRPr>
            </a:pPr>
            <a:r>
              <a:t>•  4. Méthodologie &amp; Enquête Terrain</a:t>
            </a:r>
          </a:p>
          <a:p>
            <a:pPr>
              <a:spcAft>
                <a:spcPts val="600"/>
              </a:spcAft>
              <a:defRPr sz="1100">
                <a:solidFill>
                  <a:srgbClr val="1E293B"/>
                </a:solidFill>
                <a:latin typeface="Arial"/>
              </a:defRPr>
            </a:pPr>
            <a:r>
              <a:t>•  5. Analyse de l'Existant (Graphique des Irritants)</a:t>
            </a:r>
          </a:p>
          <a:p>
            <a:pPr>
              <a:spcAft>
                <a:spcPts val="600"/>
              </a:spcAft>
              <a:defRPr sz="1100">
                <a:solidFill>
                  <a:srgbClr val="1E293B"/>
                </a:solidFill>
                <a:latin typeface="Arial"/>
              </a:defRPr>
            </a:pPr>
            <a:r>
              <a:t>•  6. Solution Proposée (Approche Web-to-Store)</a:t>
            </a:r>
          </a:p>
        </p:txBody>
      </p:sp>
      <p:sp>
        <p:nvSpPr>
          <p:cNvPr id="12" name="Rounded Rectangle 11"/>
          <p:cNvSpPr/>
          <p:nvPr/>
        </p:nvSpPr>
        <p:spPr>
          <a:xfrm>
            <a:off x="6400800" y="1371600"/>
            <a:ext cx="48463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1371600"/>
            <a:ext cx="484632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1554480"/>
            <a:ext cx="438912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Deuxième Partie : Modélisation &amp; Réalisation</a:t>
            </a:r>
          </a:p>
          <a:p>
            <a:pPr>
              <a:spcAft>
                <a:spcPts val="600"/>
              </a:spcAft>
              <a:defRPr sz="1100">
                <a:solidFill>
                  <a:srgbClr val="1E293B"/>
                </a:solidFill>
                <a:latin typeface="Arial"/>
              </a:defRPr>
            </a:pPr>
            <a:r>
              <a:t>•  7. Modélisation UML (Diagramme des Cas d'Utilisation)</a:t>
            </a:r>
          </a:p>
          <a:p>
            <a:pPr>
              <a:spcAft>
                <a:spcPts val="600"/>
              </a:spcAft>
              <a:defRPr sz="1100">
                <a:solidFill>
                  <a:srgbClr val="1E293B"/>
                </a:solidFill>
                <a:latin typeface="Arial"/>
              </a:defRPr>
            </a:pPr>
            <a:r>
              <a:t>•  8. Réalisation &amp; Architecture Technique</a:t>
            </a:r>
          </a:p>
          <a:p>
            <a:pPr>
              <a:spcAft>
                <a:spcPts val="600"/>
              </a:spcAft>
              <a:defRPr sz="1100">
                <a:solidFill>
                  <a:srgbClr val="1E293B"/>
                </a:solidFill>
                <a:latin typeface="Arial"/>
              </a:defRPr>
            </a:pPr>
            <a:r>
              <a:t>•  9. Résultats Obtenus &amp; Validation</a:t>
            </a:r>
          </a:p>
          <a:p>
            <a:pPr>
              <a:spcAft>
                <a:spcPts val="600"/>
              </a:spcAft>
              <a:defRPr sz="1100">
                <a:solidFill>
                  <a:srgbClr val="1E293B"/>
                </a:solidFill>
                <a:latin typeface="Arial"/>
              </a:defRPr>
            </a:pPr>
            <a:r>
              <a:t>•  10. Difficultés Rencontrées &amp; Solutions</a:t>
            </a:r>
          </a:p>
          <a:p>
            <a:pPr>
              <a:spcAft>
                <a:spcPts val="600"/>
              </a:spcAft>
              <a:defRPr sz="1100">
                <a:solidFill>
                  <a:srgbClr val="1E293B"/>
                </a:solidFill>
                <a:latin typeface="Arial"/>
              </a:defRPr>
            </a:pPr>
            <a:r>
              <a:t>•  11. Démonstration Pratique du Site</a:t>
            </a:r>
          </a:p>
          <a:p>
            <a:pPr>
              <a:spcAft>
                <a:spcPts val="600"/>
              </a:spcAft>
              <a:defRPr sz="1100">
                <a:solidFill>
                  <a:srgbClr val="1E293B"/>
                </a:solidFill>
                <a:latin typeface="Arial"/>
              </a:defRPr>
            </a:pPr>
            <a:r>
              <a:t>•  12. Conclusion, Perspectives &amp; Remerciements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ENVIRONNEMENT &amp; TENDANCES</a:t>
            </a:r>
          </a:p>
          <a:p>
            <a:pPr>
              <a:defRPr sz="2000" b="1">
                <a:solidFill>
                  <a:srgbClr val="125C36"/>
                </a:solidFill>
                <a:latin typeface="Arial"/>
              </a:defRPr>
            </a:pPr>
            <a:r>
              <a:t>Introduction &amp; Contexte de l'Étude</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3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731520" y="137160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329184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283464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1. Révolution Mobile au Mali</a:t>
            </a:r>
          </a:p>
          <a:p>
            <a:pPr>
              <a:spcAft>
                <a:spcPts val="600"/>
              </a:spcAft>
              <a:defRPr sz="1100">
                <a:solidFill>
                  <a:srgbClr val="1E293B"/>
                </a:solidFill>
                <a:latin typeface="Arial"/>
              </a:defRPr>
            </a:pPr>
            <a:r>
              <a:t>•  Plus de 8,5 millions d'abonnements à l'Internet mobile recensés (AMRTP).</a:t>
            </a:r>
          </a:p>
          <a:p>
            <a:pPr>
              <a:spcAft>
                <a:spcPts val="600"/>
              </a:spcAft>
              <a:defRPr sz="1100">
                <a:solidFill>
                  <a:srgbClr val="1E293B"/>
                </a:solidFill>
                <a:latin typeface="Arial"/>
              </a:defRPr>
            </a:pPr>
            <a:r>
              <a:t>•  Le smartphone est le premier écran du quotidien bamakois.</a:t>
            </a:r>
          </a:p>
          <a:p>
            <a:pPr>
              <a:spcAft>
                <a:spcPts val="600"/>
              </a:spcAft>
              <a:defRPr sz="1100">
                <a:solidFill>
                  <a:srgbClr val="1E293B"/>
                </a:solidFill>
                <a:latin typeface="Arial"/>
              </a:defRPr>
            </a:pPr>
            <a:r>
              <a:t>•  Recherches instantanées avant tout déplacement en magasin.</a:t>
            </a:r>
          </a:p>
        </p:txBody>
      </p:sp>
      <p:sp>
        <p:nvSpPr>
          <p:cNvPr id="12" name="Rounded Rectangle 11"/>
          <p:cNvSpPr/>
          <p:nvPr/>
        </p:nvSpPr>
        <p:spPr>
          <a:xfrm>
            <a:off x="4389120" y="137160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371600"/>
            <a:ext cx="329184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554480"/>
            <a:ext cx="283464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2. Passion pour la Mode &amp; Sape</a:t>
            </a:r>
          </a:p>
          <a:p>
            <a:pPr>
              <a:spcAft>
                <a:spcPts val="600"/>
              </a:spcAft>
              <a:defRPr sz="1100">
                <a:solidFill>
                  <a:srgbClr val="1E293B"/>
                </a:solidFill>
                <a:latin typeface="Arial"/>
              </a:defRPr>
            </a:pPr>
            <a:r>
              <a:t>•  Forte attirance de la jeunesse pour le streetwear chic et les sneakers US.</a:t>
            </a:r>
          </a:p>
          <a:p>
            <a:pPr>
              <a:spcAft>
                <a:spcPts val="600"/>
              </a:spcAft>
              <a:defRPr sz="1100">
                <a:solidFill>
                  <a:srgbClr val="1E293B"/>
                </a:solidFill>
                <a:latin typeface="Arial"/>
              </a:defRPr>
            </a:pPr>
            <a:r>
              <a:t>•  Influence directe des styles urbains de Lagos et des États-Unis.</a:t>
            </a:r>
          </a:p>
          <a:p>
            <a:pPr>
              <a:spcAft>
                <a:spcPts val="600"/>
              </a:spcAft>
              <a:defRPr sz="1100">
                <a:solidFill>
                  <a:srgbClr val="1E293B"/>
                </a:solidFill>
                <a:latin typeface="Arial"/>
              </a:defRPr>
            </a:pPr>
            <a:r>
              <a:t>•  Besoin de valoriser l'authenticité face aux contrefaçons du marché.</a:t>
            </a:r>
          </a:p>
        </p:txBody>
      </p:sp>
      <p:sp>
        <p:nvSpPr>
          <p:cNvPr id="15" name="Rounded Rectangle 14"/>
          <p:cNvSpPr/>
          <p:nvPr/>
        </p:nvSpPr>
        <p:spPr>
          <a:xfrm>
            <a:off x="8046720" y="1371600"/>
            <a:ext cx="3383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371600"/>
            <a:ext cx="3383280" cy="73152"/>
          </a:xfrm>
          <a:prstGeom prst="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554480"/>
            <a:ext cx="292608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3. L'Importance de la Vitrine</a:t>
            </a:r>
          </a:p>
          <a:p>
            <a:pPr>
              <a:spcAft>
                <a:spcPts val="600"/>
              </a:spcAft>
              <a:defRPr sz="1100">
                <a:solidFill>
                  <a:srgbClr val="1E293B"/>
                </a:solidFill>
                <a:latin typeface="Arial"/>
              </a:defRPr>
            </a:pPr>
            <a:r>
              <a:t>•  Dans la mode, l'attrait visuel et la noblesse des coupes dictent l'achat.</a:t>
            </a:r>
          </a:p>
          <a:p>
            <a:pPr>
              <a:spcAft>
                <a:spcPts val="600"/>
              </a:spcAft>
              <a:defRPr sz="1100">
                <a:solidFill>
                  <a:srgbClr val="1E293B"/>
                </a:solidFill>
                <a:latin typeface="Arial"/>
              </a:defRPr>
            </a:pPr>
            <a:r>
              <a:t>•  Une vitrine soignée rassure immédiatement sur le sérieux de l'enseigne.</a:t>
            </a:r>
          </a:p>
          <a:p>
            <a:pPr>
              <a:spcAft>
                <a:spcPts val="600"/>
              </a:spcAft>
              <a:defRPr sz="1100">
                <a:solidFill>
                  <a:srgbClr val="1E293B"/>
                </a:solidFill>
                <a:latin typeface="Arial"/>
              </a:defRPr>
            </a:pPr>
            <a:r>
              <a:t>•  Nécessité de passer de la vente informelle à une marque reconnue.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DIAGNOSTIC INITIAL</a:t>
            </a:r>
          </a:p>
          <a:p>
            <a:pPr>
              <a:defRPr sz="2000" b="1">
                <a:solidFill>
                  <a:srgbClr val="125C36"/>
                </a:solidFill>
                <a:latin typeface="Arial"/>
              </a:defRPr>
            </a:pPr>
            <a:r>
              <a:t>Contexte, Problématique &amp; Hypothèse</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4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731520" y="1371600"/>
            <a:ext cx="50292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02920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457200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La Problématique chez CFASHOP</a:t>
            </a:r>
          </a:p>
          <a:p>
            <a:pPr>
              <a:spcAft>
                <a:spcPts val="600"/>
              </a:spcAft>
              <a:defRPr sz="1100">
                <a:solidFill>
                  <a:srgbClr val="1E293B"/>
                </a:solidFill>
                <a:latin typeface="Arial"/>
              </a:defRPr>
            </a:pPr>
            <a:r>
              <a:t>•  Boutique physique accueillante située à Dialakorobougou.</a:t>
            </a:r>
          </a:p>
          <a:p>
            <a:pPr>
              <a:spcAft>
                <a:spcPts val="600"/>
              </a:spcAft>
              <a:defRPr sz="1100">
                <a:solidFill>
                  <a:srgbClr val="1E293B"/>
                </a:solidFill>
                <a:latin typeface="Arial"/>
              </a:defRPr>
            </a:pPr>
            <a:r>
              <a:t>•  Ventes gérées uniquement par statuts WhatsApp &amp; Instagram.</a:t>
            </a:r>
          </a:p>
          <a:p>
            <a:pPr>
              <a:spcAft>
                <a:spcPts val="600"/>
              </a:spcAft>
              <a:defRPr sz="1100">
                <a:solidFill>
                  <a:srgbClr val="1E293B"/>
                </a:solidFill>
                <a:latin typeface="Arial"/>
              </a:defRPr>
            </a:pPr>
            <a:r>
              <a:t>•  Limite 1 : Les photos disparaissent au bout de 24 heures.</a:t>
            </a:r>
          </a:p>
          <a:p>
            <a:pPr>
              <a:spcAft>
                <a:spcPts val="600"/>
              </a:spcAft>
              <a:defRPr sz="1100">
                <a:solidFill>
                  <a:srgbClr val="1E293B"/>
                </a:solidFill>
                <a:latin typeface="Arial"/>
              </a:defRPr>
            </a:pPr>
            <a:r>
              <a:t>•  Limite 2 : 60 à 80 messages/jour demandant 'C'est combien ?' et 'Il y a la taille 42 ?'.</a:t>
            </a:r>
          </a:p>
          <a:p>
            <a:pPr>
              <a:spcAft>
                <a:spcPts val="600"/>
              </a:spcAft>
              <a:defRPr sz="1100">
                <a:solidFill>
                  <a:srgbClr val="1E293B"/>
                </a:solidFill>
                <a:latin typeface="Arial"/>
              </a:defRPr>
            </a:pPr>
            <a:r>
              <a:t>•  Limite 3 : Perte estimée de 30% à 40% des ventes par manque de temps pour répondre à tous les messages.</a:t>
            </a:r>
          </a:p>
        </p:txBody>
      </p:sp>
      <p:sp>
        <p:nvSpPr>
          <p:cNvPr id="12" name="Rounded Rectangle 11"/>
          <p:cNvSpPr/>
          <p:nvPr/>
        </p:nvSpPr>
        <p:spPr>
          <a:xfrm>
            <a:off x="6217920" y="137160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521208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554480"/>
            <a:ext cx="475488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Notre Hypothèse de Recherche</a:t>
            </a:r>
          </a:p>
          <a:p>
            <a:pPr>
              <a:spcAft>
                <a:spcPts val="600"/>
              </a:spcAft>
              <a:defRPr sz="1100">
                <a:solidFill>
                  <a:srgbClr val="1E293B"/>
                </a:solidFill>
                <a:latin typeface="Arial"/>
              </a:defRPr>
            </a:pPr>
            <a:r>
              <a:t>•  « La mise à disposition d'un site vitrine léger, montrant des prix transparents en Francs CFA et connecté directement à WhatsApp, permet de stopper la perte de clients et de faire gagner un temps précieux au commerçant. »</a:t>
            </a:r>
          </a:p>
          <a:p>
            <a:pPr>
              <a:spcAft>
                <a:spcPts val="600"/>
              </a:spcAft>
              <a:defRPr sz="1100">
                <a:solidFill>
                  <a:srgbClr val="1E293B"/>
                </a:solidFill>
                <a:latin typeface="Arial"/>
              </a:defRPr>
            </a:pPr>
            <a:r>
              <a:t>•  Approche locale adaptée : respect des habitudes de paiement (cash à la livraison, Orange Money, Wave).</a:t>
            </a:r>
          </a:p>
          <a:p>
            <a:pPr>
              <a:spcAft>
                <a:spcPts val="600"/>
              </a:spcAft>
              <a:defRPr sz="1100">
                <a:solidFill>
                  <a:srgbClr val="1E293B"/>
                </a:solidFill>
                <a:latin typeface="Arial"/>
              </a:defRPr>
            </a:pPr>
            <a:r>
              <a:t>•  Zéro complexité : pas de panier lourd ni de carte bancaire obligatoire.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CAHIER DES CHARGES</a:t>
            </a:r>
          </a:p>
          <a:p>
            <a:pPr>
              <a:defRPr sz="2000" b="1">
                <a:solidFill>
                  <a:srgbClr val="125C36"/>
                </a:solidFill>
                <a:latin typeface="Arial"/>
              </a:defRPr>
            </a:pPr>
            <a:r>
              <a:t>Objectifs Visés par la Recherche</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5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731520" y="1371600"/>
            <a:ext cx="50292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02920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4572000" cy="1965960"/>
          </a:xfrm>
          <a:prstGeom prst="rect">
            <a:avLst/>
          </a:prstGeom>
          <a:noFill/>
        </p:spPr>
        <p:txBody>
          <a:bodyPr wrap="square" lIns="0" tIns="0" rIns="0" bIns="0">
            <a:spAutoFit/>
          </a:bodyPr>
          <a:lstStyle/>
          <a:p>
            <a:pPr>
              <a:spcAft>
                <a:spcPts val="1000"/>
              </a:spcAft>
              <a:defRPr sz="1400" b="1">
                <a:solidFill>
                  <a:srgbClr val="125C36"/>
                </a:solidFill>
                <a:latin typeface="Arial"/>
              </a:defRPr>
            </a:pPr>
            <a:r>
              <a:t>1. Catalogue Permanent 24h/24</a:t>
            </a:r>
          </a:p>
          <a:p>
            <a:pPr>
              <a:spcAft>
                <a:spcPts val="600"/>
              </a:spcAft>
              <a:defRPr sz="1100">
                <a:solidFill>
                  <a:srgbClr val="1E293B"/>
                </a:solidFill>
                <a:latin typeface="Arial"/>
              </a:defRPr>
            </a:pPr>
            <a:r>
              <a:t>•  Exposer l'ensemble des collections sans limite de temps.</a:t>
            </a:r>
          </a:p>
          <a:p>
            <a:pPr>
              <a:spcAft>
                <a:spcPts val="600"/>
              </a:spcAft>
              <a:defRPr sz="1100">
                <a:solidFill>
                  <a:srgbClr val="1E293B"/>
                </a:solidFill>
                <a:latin typeface="Arial"/>
              </a:defRPr>
            </a:pPr>
            <a:r>
              <a:t>•  Classement ordonné par univers : Baskets US, Jeans Lagos, Streetwear chic.</a:t>
            </a:r>
          </a:p>
          <a:p>
            <a:pPr>
              <a:spcAft>
                <a:spcPts val="600"/>
              </a:spcAft>
              <a:defRPr sz="1100">
                <a:solidFill>
                  <a:srgbClr val="1E293B"/>
                </a:solidFill>
                <a:latin typeface="Arial"/>
              </a:defRPr>
            </a:pPr>
            <a:r>
              <a:t>•  Recherche et filtrage instantanés sans rafraîchir la page.</a:t>
            </a:r>
          </a:p>
        </p:txBody>
      </p:sp>
      <p:sp>
        <p:nvSpPr>
          <p:cNvPr id="12" name="Rounded Rectangle 11"/>
          <p:cNvSpPr/>
          <p:nvPr/>
        </p:nvSpPr>
        <p:spPr>
          <a:xfrm>
            <a:off x="6217920" y="13716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521208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554480"/>
            <a:ext cx="4754880" cy="1965960"/>
          </a:xfrm>
          <a:prstGeom prst="rect">
            <a:avLst/>
          </a:prstGeom>
          <a:noFill/>
        </p:spPr>
        <p:txBody>
          <a:bodyPr wrap="square" lIns="0" tIns="0" rIns="0" bIns="0">
            <a:spAutoFit/>
          </a:bodyPr>
          <a:lstStyle/>
          <a:p>
            <a:pPr>
              <a:spcAft>
                <a:spcPts val="1000"/>
              </a:spcAft>
              <a:defRPr sz="1400" b="1">
                <a:solidFill>
                  <a:srgbClr val="125C36"/>
                </a:solidFill>
                <a:latin typeface="Arial"/>
              </a:defRPr>
            </a:pPr>
            <a:r>
              <a:t>2. Transparence Tarifaire Totale</a:t>
            </a:r>
          </a:p>
          <a:p>
            <a:pPr>
              <a:spcAft>
                <a:spcPts val="600"/>
              </a:spcAft>
              <a:defRPr sz="1100">
                <a:solidFill>
                  <a:srgbClr val="1E293B"/>
                </a:solidFill>
                <a:latin typeface="Arial"/>
              </a:defRPr>
            </a:pPr>
            <a:r>
              <a:t>•  Afficher clairement les prix fixes en Francs CFA (ex: 45 000 FCFA).</a:t>
            </a:r>
          </a:p>
          <a:p>
            <a:pPr>
              <a:spcAft>
                <a:spcPts val="600"/>
              </a:spcAft>
              <a:defRPr sz="1100">
                <a:solidFill>
                  <a:srgbClr val="1E293B"/>
                </a:solidFill>
                <a:latin typeface="Arial"/>
              </a:defRPr>
            </a:pPr>
            <a:r>
              <a:t>•  Indiquer avec précision les pointures et tailles en stock (40 à 45).</a:t>
            </a:r>
          </a:p>
          <a:p>
            <a:pPr>
              <a:spcAft>
                <a:spcPts val="600"/>
              </a:spcAft>
              <a:defRPr sz="1100">
                <a:solidFill>
                  <a:srgbClr val="1E293B"/>
                </a:solidFill>
                <a:latin typeface="Arial"/>
              </a:defRPr>
            </a:pPr>
            <a:r>
              <a:t>•  Supprimer la négociation épuisante en message privé.</a:t>
            </a:r>
          </a:p>
        </p:txBody>
      </p:sp>
      <p:sp>
        <p:nvSpPr>
          <p:cNvPr id="15" name="Rounded Rectangle 14"/>
          <p:cNvSpPr/>
          <p:nvPr/>
        </p:nvSpPr>
        <p:spPr>
          <a:xfrm>
            <a:off x="731520" y="3931920"/>
            <a:ext cx="502920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931920"/>
            <a:ext cx="502920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114800"/>
            <a:ext cx="4572000" cy="2057400"/>
          </a:xfrm>
          <a:prstGeom prst="rect">
            <a:avLst/>
          </a:prstGeom>
          <a:noFill/>
        </p:spPr>
        <p:txBody>
          <a:bodyPr wrap="square" lIns="0" tIns="0" rIns="0" bIns="0">
            <a:spAutoFit/>
          </a:bodyPr>
          <a:lstStyle/>
          <a:p>
            <a:pPr>
              <a:spcAft>
                <a:spcPts val="1000"/>
              </a:spcAft>
              <a:defRPr sz="1400" b="1">
                <a:solidFill>
                  <a:srgbClr val="125C36"/>
                </a:solidFill>
                <a:latin typeface="Arial"/>
              </a:defRPr>
            </a:pPr>
            <a:r>
              <a:t>3. Passerelle Directe WhatsApp</a:t>
            </a:r>
          </a:p>
          <a:p>
            <a:pPr>
              <a:spcAft>
                <a:spcPts val="600"/>
              </a:spcAft>
              <a:defRPr sz="1100">
                <a:solidFill>
                  <a:srgbClr val="1E293B"/>
                </a:solidFill>
                <a:latin typeface="Arial"/>
              </a:defRPr>
            </a:pPr>
            <a:r>
              <a:t>•  Bouton 'Commander sur WhatsApp' présent sur chaque article.</a:t>
            </a:r>
          </a:p>
          <a:p>
            <a:pPr>
              <a:spcAft>
                <a:spcPts val="600"/>
              </a:spcAft>
              <a:defRPr sz="1100">
                <a:solidFill>
                  <a:srgbClr val="1E293B"/>
                </a:solidFill>
                <a:latin typeface="Arial"/>
              </a:defRPr>
            </a:pPr>
            <a:r>
              <a:t>•  Génération automatique d'un message pré-rempli (modèle, référence, taille, prix).</a:t>
            </a:r>
          </a:p>
          <a:p>
            <a:pPr>
              <a:spcAft>
                <a:spcPts val="600"/>
              </a:spcAft>
              <a:defRPr sz="1100">
                <a:solidFill>
                  <a:srgbClr val="1E293B"/>
                </a:solidFill>
                <a:latin typeface="Arial"/>
              </a:defRPr>
            </a:pPr>
            <a:r>
              <a:t>•  Permet de commander en un clic sans compte ni formulaire.</a:t>
            </a:r>
          </a:p>
        </p:txBody>
      </p:sp>
      <p:sp>
        <p:nvSpPr>
          <p:cNvPr id="18" name="Rounded Rectangle 17"/>
          <p:cNvSpPr/>
          <p:nvPr/>
        </p:nvSpPr>
        <p:spPr>
          <a:xfrm>
            <a:off x="6217920" y="393192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931920"/>
            <a:ext cx="521208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114800"/>
            <a:ext cx="4754880" cy="2057400"/>
          </a:xfrm>
          <a:prstGeom prst="rect">
            <a:avLst/>
          </a:prstGeom>
          <a:noFill/>
        </p:spPr>
        <p:txBody>
          <a:bodyPr wrap="square" lIns="0" tIns="0" rIns="0" bIns="0">
            <a:spAutoFit/>
          </a:bodyPr>
          <a:lstStyle/>
          <a:p>
            <a:pPr>
              <a:spcAft>
                <a:spcPts val="1000"/>
              </a:spcAft>
              <a:defRPr sz="1400" b="1">
                <a:solidFill>
                  <a:srgbClr val="125C36"/>
                </a:solidFill>
                <a:latin typeface="Arial"/>
              </a:defRPr>
            </a:pPr>
            <a:r>
              <a:t>4. Valorisation Locale Web-to-Store</a:t>
            </a:r>
          </a:p>
          <a:p>
            <a:pPr>
              <a:spcAft>
                <a:spcPts val="600"/>
              </a:spcAft>
              <a:defRPr sz="1100">
                <a:solidFill>
                  <a:srgbClr val="1E293B"/>
                </a:solidFill>
                <a:latin typeface="Arial"/>
              </a:defRPr>
            </a:pPr>
            <a:r>
              <a:t>•  Localisation géographique claire de la boutique physique à Dialakorobougou.</a:t>
            </a:r>
          </a:p>
          <a:p>
            <a:pPr>
              <a:spcAft>
                <a:spcPts val="600"/>
              </a:spcAft>
              <a:defRPr sz="1100">
                <a:solidFill>
                  <a:srgbClr val="1E293B"/>
                </a:solidFill>
                <a:latin typeface="Arial"/>
              </a:defRPr>
            </a:pPr>
            <a:r>
              <a:t>•  Affichage des horaires d'ouverture et itinéraires faciles.</a:t>
            </a:r>
          </a:p>
          <a:p>
            <a:pPr>
              <a:spcAft>
                <a:spcPts val="600"/>
              </a:spcAft>
              <a:defRPr sz="1100">
                <a:solidFill>
                  <a:srgbClr val="1E293B"/>
                </a:solidFill>
                <a:latin typeface="Arial"/>
              </a:defRPr>
            </a:pPr>
            <a:r>
              <a:t>•  Encourager les visites en magasin pour l'essayage direct.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ENQUÊTE QUANTITATIVE N=45</a:t>
            </a:r>
          </a:p>
          <a:p>
            <a:pPr>
              <a:defRPr sz="2000" b="1">
                <a:solidFill>
                  <a:srgbClr val="125C36"/>
                </a:solidFill>
                <a:latin typeface="Arial"/>
              </a:defRPr>
            </a:pPr>
            <a:r>
              <a:t>Méthodologie &amp; Graphique des Irritants Clients</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6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731520" y="1371600"/>
            <a:ext cx="43891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4389120" cy="73152"/>
          </a:xfrm>
          <a:prstGeom prst="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393192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Démarche de Terrain</a:t>
            </a:r>
          </a:p>
          <a:p>
            <a:pPr>
              <a:spcAft>
                <a:spcPts val="600"/>
              </a:spcAft>
              <a:defRPr sz="1100">
                <a:solidFill>
                  <a:srgbClr val="1E293B"/>
                </a:solidFill>
                <a:latin typeface="Arial"/>
              </a:defRPr>
            </a:pPr>
            <a:r>
              <a:t>•  Échantillon : N = 45 répondants bamakois (acheteurs réguliers de mode).</a:t>
            </a:r>
          </a:p>
          <a:p>
            <a:pPr>
              <a:spcAft>
                <a:spcPts val="600"/>
              </a:spcAft>
              <a:defRPr sz="1100">
                <a:solidFill>
                  <a:srgbClr val="1E293B"/>
                </a:solidFill>
                <a:latin typeface="Arial"/>
              </a:defRPr>
            </a:pPr>
            <a:r>
              <a:t>•  Administration mixte : face-à-face à Dialakorobougou et en ligne.</a:t>
            </a:r>
          </a:p>
          <a:p>
            <a:pPr>
              <a:spcAft>
                <a:spcPts val="600"/>
              </a:spcAft>
              <a:defRPr sz="1100">
                <a:solidFill>
                  <a:srgbClr val="1E293B"/>
                </a:solidFill>
                <a:latin typeface="Arial"/>
              </a:defRPr>
            </a:pPr>
            <a:r>
              <a:t>•  Entretien qualitatif approfondi (55 min) avec le gérant de CFASHOP.</a:t>
            </a:r>
          </a:p>
          <a:p>
            <a:pPr>
              <a:spcAft>
                <a:spcPts val="600"/>
              </a:spcAft>
              <a:defRPr sz="1100">
                <a:solidFill>
                  <a:srgbClr val="1E293B"/>
                </a:solidFill>
                <a:latin typeface="Arial"/>
              </a:defRPr>
            </a:pPr>
            <a:r>
              <a:t>•  91,1 % des clients consultent exclusivement sur smartphone.</a:t>
            </a:r>
          </a:p>
          <a:p>
            <a:pPr>
              <a:spcAft>
                <a:spcPts val="600"/>
              </a:spcAft>
              <a:defRPr sz="1100">
                <a:solidFill>
                  <a:srgbClr val="1E293B"/>
                </a:solidFill>
                <a:latin typeface="Arial"/>
              </a:defRPr>
            </a:pPr>
            <a:r>
              <a:t>•  Moins de 5 % possèdent une carte bancaire utilisable en ligne : le cash et le mobile money règnent.</a:t>
            </a:r>
          </a:p>
        </p:txBody>
      </p:sp>
      <p:sp>
        <p:nvSpPr>
          <p:cNvPr id="12" name="Rounded Rectangle 11"/>
          <p:cNvSpPr/>
          <p:nvPr/>
        </p:nvSpPr>
        <p:spPr>
          <a:xfrm>
            <a:off x="5486400" y="1371600"/>
            <a:ext cx="594360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371600"/>
            <a:ext cx="594360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0" y="1554480"/>
            <a:ext cx="5394960" cy="731520"/>
          </a:xfrm>
          <a:prstGeom prst="rect">
            <a:avLst/>
          </a:prstGeom>
          <a:noFill/>
        </p:spPr>
        <p:txBody>
          <a:bodyPr wrap="none">
            <a:spAutoFit/>
          </a:bodyPr>
          <a:lstStyle/>
          <a:p>
            <a:pPr>
              <a:defRPr sz="1400" b="1">
                <a:solidFill>
                  <a:srgbClr val="125C36"/>
                </a:solidFill>
                <a:latin typeface="Arial"/>
              </a:defRPr>
            </a:pPr>
            <a:r>
              <a:t>Diagnostic des Irritants sur Réseaux Sociaux</a:t>
            </a:r>
          </a:p>
          <a:p>
            <a:pPr>
              <a:defRPr sz="1000">
                <a:solidFill>
                  <a:srgbClr val="64748B"/>
                </a:solidFill>
              </a:defRPr>
            </a:pPr>
            <a:r>
              <a:t>Moyenne sur échelle de Likert (1 = Pas d'accord à 5 = Tout à fait d'accord) :</a:t>
            </a:r>
          </a:p>
        </p:txBody>
      </p:sp>
      <p:sp>
        <p:nvSpPr>
          <p:cNvPr id="15" name="TextBox 14"/>
          <p:cNvSpPr txBox="1"/>
          <p:nvPr/>
        </p:nvSpPr>
        <p:spPr>
          <a:xfrm>
            <a:off x="5760720" y="2377440"/>
            <a:ext cx="5394960" cy="320040"/>
          </a:xfrm>
          <a:prstGeom prst="rect">
            <a:avLst/>
          </a:prstGeom>
          <a:noFill/>
        </p:spPr>
        <p:txBody>
          <a:bodyPr wrap="none" lIns="0" tIns="0" rIns="0" bIns="0">
            <a:spAutoFit/>
          </a:bodyPr>
          <a:lstStyle/>
          <a:p>
            <a:pPr>
              <a:defRPr sz="1000" b="1">
                <a:solidFill>
                  <a:srgbClr val="1E293B"/>
                </a:solidFill>
                <a:latin typeface="Arial"/>
              </a:defRPr>
            </a:pPr>
            <a:r>
              <a:t>Absence de prix affiché (Obligation de demander en PV)</a:t>
            </a:r>
          </a:p>
        </p:txBody>
      </p:sp>
      <p:sp>
        <p:nvSpPr>
          <p:cNvPr id="16" name="Rounded Rectangle 15"/>
          <p:cNvSpPr/>
          <p:nvPr/>
        </p:nvSpPr>
        <p:spPr>
          <a:xfrm>
            <a:off x="5760720" y="2697480"/>
            <a:ext cx="4389120" cy="292608"/>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760720" y="2697480"/>
            <a:ext cx="4037990" cy="292608"/>
          </a:xfrm>
          <a:prstGeom prst="round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0" y="2670048"/>
            <a:ext cx="1005840" cy="320040"/>
          </a:xfrm>
          <a:prstGeom prst="rect">
            <a:avLst/>
          </a:prstGeom>
          <a:noFill/>
        </p:spPr>
        <p:txBody>
          <a:bodyPr wrap="none" lIns="0" tIns="0" rIns="0" bIns="0">
            <a:spAutoFit/>
          </a:bodyPr>
          <a:lstStyle/>
          <a:p>
            <a:pPr>
              <a:defRPr sz="1100" b="1">
                <a:solidFill>
                  <a:srgbClr val="D62828"/>
                </a:solidFill>
                <a:latin typeface="Arial"/>
              </a:defRPr>
            </a:pPr>
            <a:r>
              <a:t>4.60 / 5</a:t>
            </a:r>
          </a:p>
        </p:txBody>
      </p:sp>
      <p:sp>
        <p:nvSpPr>
          <p:cNvPr id="19" name="TextBox 18"/>
          <p:cNvSpPr txBox="1"/>
          <p:nvPr/>
        </p:nvSpPr>
        <p:spPr>
          <a:xfrm>
            <a:off x="5760720" y="3246120"/>
            <a:ext cx="5394960" cy="320040"/>
          </a:xfrm>
          <a:prstGeom prst="rect">
            <a:avLst/>
          </a:prstGeom>
          <a:noFill/>
        </p:spPr>
        <p:txBody>
          <a:bodyPr wrap="none" lIns="0" tIns="0" rIns="0" bIns="0">
            <a:spAutoFit/>
          </a:bodyPr>
          <a:lstStyle/>
          <a:p>
            <a:pPr>
              <a:defRPr sz="1000" b="1">
                <a:solidFill>
                  <a:srgbClr val="1E293B"/>
                </a:solidFill>
                <a:latin typeface="Arial"/>
              </a:defRPr>
            </a:pPr>
            <a:r>
              <a:t>Disparition des articles en statuts/stories après 24h</a:t>
            </a:r>
          </a:p>
        </p:txBody>
      </p:sp>
      <p:sp>
        <p:nvSpPr>
          <p:cNvPr id="20" name="Rounded Rectangle 19"/>
          <p:cNvSpPr/>
          <p:nvPr/>
        </p:nvSpPr>
        <p:spPr>
          <a:xfrm>
            <a:off x="5760720" y="3566160"/>
            <a:ext cx="4389120" cy="292608"/>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760720" y="3566160"/>
            <a:ext cx="3879982" cy="292608"/>
          </a:xfrm>
          <a:prstGeom prst="round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0" y="3538727"/>
            <a:ext cx="1005840" cy="320040"/>
          </a:xfrm>
          <a:prstGeom prst="rect">
            <a:avLst/>
          </a:prstGeom>
          <a:noFill/>
        </p:spPr>
        <p:txBody>
          <a:bodyPr wrap="none" lIns="0" tIns="0" rIns="0" bIns="0">
            <a:spAutoFit/>
          </a:bodyPr>
          <a:lstStyle/>
          <a:p>
            <a:pPr>
              <a:defRPr sz="1100" b="1">
                <a:solidFill>
                  <a:srgbClr val="D62828"/>
                </a:solidFill>
                <a:latin typeface="Arial"/>
              </a:defRPr>
            </a:pPr>
            <a:r>
              <a:t>4.42 / 5</a:t>
            </a:r>
          </a:p>
        </p:txBody>
      </p:sp>
      <p:sp>
        <p:nvSpPr>
          <p:cNvPr id="23" name="TextBox 22"/>
          <p:cNvSpPr txBox="1"/>
          <p:nvPr/>
        </p:nvSpPr>
        <p:spPr>
          <a:xfrm>
            <a:off x="5760720" y="4114800"/>
            <a:ext cx="5394960" cy="320040"/>
          </a:xfrm>
          <a:prstGeom prst="rect">
            <a:avLst/>
          </a:prstGeom>
          <a:noFill/>
        </p:spPr>
        <p:txBody>
          <a:bodyPr wrap="none" lIns="0" tIns="0" rIns="0" bIns="0">
            <a:spAutoFit/>
          </a:bodyPr>
          <a:lstStyle/>
          <a:p>
            <a:pPr>
              <a:defRPr sz="1000" b="1">
                <a:solidFill>
                  <a:srgbClr val="1E293B"/>
                </a:solidFill>
                <a:latin typeface="Arial"/>
              </a:defRPr>
            </a:pPr>
            <a:r>
              <a:t>Incertitude sur les pointures et tailles disponibles</a:t>
            </a:r>
          </a:p>
        </p:txBody>
      </p:sp>
      <p:sp>
        <p:nvSpPr>
          <p:cNvPr id="24" name="Rounded Rectangle 23"/>
          <p:cNvSpPr/>
          <p:nvPr/>
        </p:nvSpPr>
        <p:spPr>
          <a:xfrm>
            <a:off x="5760720" y="4434840"/>
            <a:ext cx="4389120" cy="292608"/>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760720" y="4434840"/>
            <a:ext cx="3757086" cy="292608"/>
          </a:xfrm>
          <a:prstGeom prst="round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80" y="4407408"/>
            <a:ext cx="1005840" cy="320040"/>
          </a:xfrm>
          <a:prstGeom prst="rect">
            <a:avLst/>
          </a:prstGeom>
          <a:noFill/>
        </p:spPr>
        <p:txBody>
          <a:bodyPr wrap="none" lIns="0" tIns="0" rIns="0" bIns="0">
            <a:spAutoFit/>
          </a:bodyPr>
          <a:lstStyle/>
          <a:p>
            <a:pPr>
              <a:defRPr sz="1100" b="1">
                <a:solidFill>
                  <a:srgbClr val="228B4E"/>
                </a:solidFill>
                <a:latin typeface="Arial"/>
              </a:defRPr>
            </a:pPr>
            <a:r>
              <a:t>4.28 / 5</a:t>
            </a:r>
          </a:p>
        </p:txBody>
      </p:sp>
      <p:sp>
        <p:nvSpPr>
          <p:cNvPr id="27" name="TextBox 26"/>
          <p:cNvSpPr txBox="1"/>
          <p:nvPr/>
        </p:nvSpPr>
        <p:spPr>
          <a:xfrm>
            <a:off x="5760720" y="4983480"/>
            <a:ext cx="5394960" cy="320040"/>
          </a:xfrm>
          <a:prstGeom prst="rect">
            <a:avLst/>
          </a:prstGeom>
          <a:noFill/>
        </p:spPr>
        <p:txBody>
          <a:bodyPr wrap="none" lIns="0" tIns="0" rIns="0" bIns="0">
            <a:spAutoFit/>
          </a:bodyPr>
          <a:lstStyle/>
          <a:p>
            <a:pPr>
              <a:defRPr sz="1000" b="1">
                <a:solidFill>
                  <a:srgbClr val="1E293B"/>
                </a:solidFill>
                <a:latin typeface="Arial"/>
              </a:defRPr>
            </a:pPr>
            <a:r>
              <a:t>Lenteur de réponse du vendeur entraînant l'abandon</a:t>
            </a:r>
          </a:p>
        </p:txBody>
      </p:sp>
      <p:sp>
        <p:nvSpPr>
          <p:cNvPr id="28" name="Rounded Rectangle 27"/>
          <p:cNvSpPr/>
          <p:nvPr/>
        </p:nvSpPr>
        <p:spPr>
          <a:xfrm>
            <a:off x="5760720" y="5303520"/>
            <a:ext cx="4389120" cy="292608"/>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760720" y="5303520"/>
            <a:ext cx="3642969" cy="292608"/>
          </a:xfrm>
          <a:prstGeom prst="round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0" y="5276088"/>
            <a:ext cx="1005840" cy="320040"/>
          </a:xfrm>
          <a:prstGeom prst="rect">
            <a:avLst/>
          </a:prstGeom>
          <a:noFill/>
        </p:spPr>
        <p:txBody>
          <a:bodyPr wrap="none" lIns="0" tIns="0" rIns="0" bIns="0">
            <a:spAutoFit/>
          </a:bodyPr>
          <a:lstStyle/>
          <a:p>
            <a:pPr>
              <a:defRPr sz="1100" b="1">
                <a:solidFill>
                  <a:srgbClr val="228B4E"/>
                </a:solidFill>
                <a:latin typeface="Arial"/>
              </a:defRPr>
            </a:pPr>
            <a:r>
              <a:t>4.15 /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PARCOURS CLIENT FLUIDE</a:t>
            </a:r>
          </a:p>
          <a:p>
            <a:pPr>
              <a:defRPr sz="2000" b="1">
                <a:solidFill>
                  <a:srgbClr val="125C36"/>
                </a:solidFill>
                <a:latin typeface="Arial"/>
              </a:defRPr>
            </a:pPr>
            <a:r>
              <a:t>Solution Proposée : Approche Hybride Web-to-Store</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7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731520" y="1371600"/>
            <a:ext cx="329184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329184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2834640" cy="3657600"/>
          </a:xfrm>
          <a:prstGeom prst="rect">
            <a:avLst/>
          </a:prstGeom>
          <a:noFill/>
        </p:spPr>
        <p:txBody>
          <a:bodyPr wrap="square" lIns="0" tIns="0" rIns="0" bIns="0">
            <a:spAutoFit/>
          </a:bodyPr>
          <a:lstStyle/>
          <a:p>
            <a:pPr>
              <a:spcAft>
                <a:spcPts val="1000"/>
              </a:spcAft>
              <a:defRPr sz="1400" b="1">
                <a:solidFill>
                  <a:srgbClr val="125C36"/>
                </a:solidFill>
                <a:latin typeface="Arial"/>
              </a:defRPr>
            </a:pPr>
            <a:r>
              <a:t>Étape 1 : Découverte Web</a:t>
            </a:r>
          </a:p>
          <a:p>
            <a:pPr>
              <a:spcAft>
                <a:spcPts val="600"/>
              </a:spcAft>
              <a:defRPr sz="1100">
                <a:solidFill>
                  <a:srgbClr val="1E293B"/>
                </a:solidFill>
                <a:latin typeface="Arial"/>
              </a:defRPr>
            </a:pPr>
            <a:r>
              <a:t>•  Navigation ultra-rapide sur smartphone.</a:t>
            </a:r>
          </a:p>
          <a:p>
            <a:pPr>
              <a:spcAft>
                <a:spcPts val="600"/>
              </a:spcAft>
              <a:defRPr sz="1100">
                <a:solidFill>
                  <a:srgbClr val="1E293B"/>
                </a:solidFill>
                <a:latin typeface="Arial"/>
              </a:defRPr>
            </a:pPr>
            <a:r>
              <a:t>•  Catalogue permanent sans déconnexion.</a:t>
            </a:r>
          </a:p>
          <a:p>
            <a:pPr>
              <a:spcAft>
                <a:spcPts val="600"/>
              </a:spcAft>
              <a:defRPr sz="1100">
                <a:solidFill>
                  <a:srgbClr val="1E293B"/>
                </a:solidFill>
                <a:latin typeface="Arial"/>
              </a:defRPr>
            </a:pPr>
            <a:r>
              <a:t>•  Filtres par univers : Baskets, Streetwear, Jeans.</a:t>
            </a:r>
          </a:p>
          <a:p>
            <a:pPr>
              <a:spcAft>
                <a:spcPts val="600"/>
              </a:spcAft>
              <a:defRPr sz="1100">
                <a:solidFill>
                  <a:srgbClr val="1E293B"/>
                </a:solidFill>
                <a:latin typeface="Arial"/>
              </a:defRPr>
            </a:pPr>
            <a:r>
              <a:t>•  Fiches détaillées avec prix net en FCFA et pointures vérifiées.</a:t>
            </a:r>
          </a:p>
        </p:txBody>
      </p:sp>
      <p:sp>
        <p:nvSpPr>
          <p:cNvPr id="12" name="Rounded Rectangle 11"/>
          <p:cNvSpPr/>
          <p:nvPr/>
        </p:nvSpPr>
        <p:spPr>
          <a:xfrm>
            <a:off x="4389120" y="1371600"/>
            <a:ext cx="329184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371600"/>
            <a:ext cx="329184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554480"/>
            <a:ext cx="2834640" cy="3657600"/>
          </a:xfrm>
          <a:prstGeom prst="rect">
            <a:avLst/>
          </a:prstGeom>
          <a:noFill/>
        </p:spPr>
        <p:txBody>
          <a:bodyPr wrap="square" lIns="0" tIns="0" rIns="0" bIns="0">
            <a:spAutoFit/>
          </a:bodyPr>
          <a:lstStyle/>
          <a:p>
            <a:pPr>
              <a:spcAft>
                <a:spcPts val="1000"/>
              </a:spcAft>
              <a:defRPr sz="1400" b="1">
                <a:solidFill>
                  <a:srgbClr val="125C36"/>
                </a:solidFill>
                <a:latin typeface="Arial"/>
              </a:defRPr>
            </a:pPr>
            <a:r>
              <a:t>Étape 2 : Passerelle WhatsApp</a:t>
            </a:r>
          </a:p>
          <a:p>
            <a:pPr>
              <a:spcAft>
                <a:spcPts val="600"/>
              </a:spcAft>
              <a:defRPr sz="1100">
                <a:solidFill>
                  <a:srgbClr val="1E293B"/>
                </a:solidFill>
                <a:latin typeface="Arial"/>
              </a:defRPr>
            </a:pPr>
            <a:r>
              <a:t>•  Un seul clic sur 'Commander sur WhatsApp'.</a:t>
            </a:r>
          </a:p>
          <a:p>
            <a:pPr>
              <a:spcAft>
                <a:spcPts val="600"/>
              </a:spcAft>
              <a:defRPr sz="1100">
                <a:solidFill>
                  <a:srgbClr val="1E293B"/>
                </a:solidFill>
                <a:latin typeface="Arial"/>
              </a:defRPr>
            </a:pPr>
            <a:r>
              <a:t>•  Génération automatique du message : 'Bonjour CFASHOP, je veux commander le modèle X en taille 42 (45 000 FCFA)'.</a:t>
            </a:r>
          </a:p>
          <a:p>
            <a:pPr>
              <a:spcAft>
                <a:spcPts val="600"/>
              </a:spcAft>
              <a:defRPr sz="1100">
                <a:solidFill>
                  <a:srgbClr val="1E293B"/>
                </a:solidFill>
                <a:latin typeface="Arial"/>
              </a:defRPr>
            </a:pPr>
            <a:r>
              <a:t>•  Aucune saisie pénible au clavier pour l'acheteur.</a:t>
            </a:r>
          </a:p>
        </p:txBody>
      </p:sp>
      <p:sp>
        <p:nvSpPr>
          <p:cNvPr id="15" name="Rounded Rectangle 14"/>
          <p:cNvSpPr/>
          <p:nvPr/>
        </p:nvSpPr>
        <p:spPr>
          <a:xfrm>
            <a:off x="8046720" y="1371600"/>
            <a:ext cx="33832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371600"/>
            <a:ext cx="3383280" cy="73152"/>
          </a:xfrm>
          <a:prstGeom prst="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554480"/>
            <a:ext cx="2926080" cy="3657600"/>
          </a:xfrm>
          <a:prstGeom prst="rect">
            <a:avLst/>
          </a:prstGeom>
          <a:noFill/>
        </p:spPr>
        <p:txBody>
          <a:bodyPr wrap="square" lIns="0" tIns="0" rIns="0" bIns="0">
            <a:spAutoFit/>
          </a:bodyPr>
          <a:lstStyle/>
          <a:p>
            <a:pPr>
              <a:spcAft>
                <a:spcPts val="1000"/>
              </a:spcAft>
              <a:defRPr sz="1400" b="1">
                <a:solidFill>
                  <a:srgbClr val="125C36"/>
                </a:solidFill>
                <a:latin typeface="Arial"/>
              </a:defRPr>
            </a:pPr>
            <a:r>
              <a:t>Étape 3 : Conversion Réelle</a:t>
            </a:r>
          </a:p>
          <a:p>
            <a:pPr>
              <a:spcAft>
                <a:spcPts val="600"/>
              </a:spcAft>
              <a:defRPr sz="1100">
                <a:solidFill>
                  <a:srgbClr val="1E293B"/>
                </a:solidFill>
                <a:latin typeface="Arial"/>
              </a:defRPr>
            </a:pPr>
            <a:r>
              <a:t>•  Confirmation instantanée par le gérant.</a:t>
            </a:r>
          </a:p>
          <a:p>
            <a:pPr>
              <a:spcAft>
                <a:spcPts val="600"/>
              </a:spcAft>
              <a:defRPr sz="1100">
                <a:solidFill>
                  <a:srgbClr val="1E293B"/>
                </a:solidFill>
                <a:latin typeface="Arial"/>
              </a:defRPr>
            </a:pPr>
            <a:r>
              <a:t>•  Option A : Livraison rapide par mototaxi et paiement cash / Orange Money / Wave.</a:t>
            </a:r>
          </a:p>
          <a:p>
            <a:pPr>
              <a:spcAft>
                <a:spcPts val="600"/>
              </a:spcAft>
              <a:defRPr sz="1100">
                <a:solidFill>
                  <a:srgbClr val="1E293B"/>
                </a:solidFill>
                <a:latin typeface="Arial"/>
              </a:defRPr>
            </a:pPr>
            <a:r>
              <a:t>•  Option B : Visite physique au magasin de Dialakorobougou pour essayage direct.</a:t>
            </a:r>
          </a:p>
        </p:txBody>
      </p:sp>
      <p:sp>
        <p:nvSpPr>
          <p:cNvPr id="18" name="Rounded Rectangle 17"/>
          <p:cNvSpPr/>
          <p:nvPr/>
        </p:nvSpPr>
        <p:spPr>
          <a:xfrm>
            <a:off x="731520" y="5486400"/>
            <a:ext cx="10698480" cy="868680"/>
          </a:xfrm>
          <a:prstGeom prst="roundRect">
            <a:avLst/>
          </a:prstGeom>
          <a:solidFill>
            <a:srgbClr val="FFFFFF"/>
          </a:solidFill>
          <a:ln>
            <a:solidFill>
              <a:srgbClr val="228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25C36"/>
                </a:solidFill>
                <a:latin typeface="Arial"/>
              </a:defRPr>
            </a:pPr>
            <a:r>
              <a:t>🎯 RÉSULTAT DU PARCOURS : Commande passée en moins de 10 secondes  •  Zéro création de compte  •  Zéro frais bancaire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SPÉCIFICATION FORMELLE DU SYSTÈME</a:t>
            </a:r>
          </a:p>
          <a:p>
            <a:pPr>
              <a:defRPr sz="2000" b="1">
                <a:solidFill>
                  <a:srgbClr val="125C36"/>
                </a:solidFill>
                <a:latin typeface="Arial"/>
              </a:defRPr>
            </a:pPr>
            <a:r>
              <a:t>Modélisation UML : Diagramme des Cas d'Utilisation</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8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pic>
        <p:nvPicPr>
          <p:cNvPr id="9" name="Picture 8" descr="diagramme_cas_utilisation.jpg"/>
          <p:cNvPicPr>
            <a:picLocks noChangeAspect="1"/>
          </p:cNvPicPr>
          <p:nvPr/>
        </p:nvPicPr>
        <p:blipFill>
          <a:blip r:embed="rId2"/>
          <a:stretch>
            <a:fillRect/>
          </a:stretch>
        </p:blipFill>
        <p:spPr>
          <a:xfrm>
            <a:off x="731520" y="1234440"/>
            <a:ext cx="4206240" cy="6309360"/>
          </a:xfrm>
          <a:prstGeom prst="rect">
            <a:avLst/>
          </a:prstGeom>
        </p:spPr>
      </p:pic>
      <p:sp>
        <p:nvSpPr>
          <p:cNvPr id="10" name="Rounded Rectangle 9"/>
          <p:cNvSpPr/>
          <p:nvPr/>
        </p:nvSpPr>
        <p:spPr>
          <a:xfrm>
            <a:off x="5212080" y="1234440"/>
            <a:ext cx="621792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0" y="1234440"/>
            <a:ext cx="621792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40680" y="1417320"/>
            <a:ext cx="5760720" cy="2194560"/>
          </a:xfrm>
          <a:prstGeom prst="rect">
            <a:avLst/>
          </a:prstGeom>
          <a:noFill/>
        </p:spPr>
        <p:txBody>
          <a:bodyPr wrap="square" lIns="0" tIns="0" rIns="0" bIns="0">
            <a:spAutoFit/>
          </a:bodyPr>
          <a:lstStyle/>
          <a:p>
            <a:pPr>
              <a:spcAft>
                <a:spcPts val="1000"/>
              </a:spcAft>
              <a:defRPr sz="1400" b="1">
                <a:solidFill>
                  <a:srgbClr val="125C36"/>
                </a:solidFill>
                <a:latin typeface="Arial"/>
              </a:defRPr>
            </a:pPr>
            <a:r>
              <a:t>Acteur Primaire : Visiteur / Client</a:t>
            </a:r>
          </a:p>
          <a:p>
            <a:pPr>
              <a:spcAft>
                <a:spcPts val="600"/>
              </a:spcAft>
              <a:defRPr sz="1100">
                <a:solidFill>
                  <a:srgbClr val="1E293B"/>
                </a:solidFill>
                <a:latin typeface="Arial"/>
              </a:defRPr>
            </a:pPr>
            <a:r>
              <a:t>•  Consulter la vitrine et le lookbook haute définition.</a:t>
            </a:r>
          </a:p>
          <a:p>
            <a:pPr>
              <a:spcAft>
                <a:spcPts val="600"/>
              </a:spcAft>
              <a:defRPr sz="1100">
                <a:solidFill>
                  <a:srgbClr val="1E293B"/>
                </a:solidFill>
                <a:latin typeface="Arial"/>
              </a:defRPr>
            </a:pPr>
            <a:r>
              <a:t>•  Filtrer instantanément par catégorie (Homme / Femme / Streetwear).</a:t>
            </a:r>
          </a:p>
          <a:p>
            <a:pPr>
              <a:spcAft>
                <a:spcPts val="600"/>
              </a:spcAft>
              <a:defRPr sz="1100">
                <a:solidFill>
                  <a:srgbClr val="1E293B"/>
                </a:solidFill>
                <a:latin typeface="Arial"/>
              </a:defRPr>
            </a:pPr>
            <a:r>
              <a:t>•  Consulter les détails du vêtement, les pointures et les prix réels en FCFA.</a:t>
            </a:r>
          </a:p>
          <a:p>
            <a:pPr>
              <a:spcAft>
                <a:spcPts val="600"/>
              </a:spcAft>
              <a:defRPr sz="1100">
                <a:solidFill>
                  <a:srgbClr val="1E293B"/>
                </a:solidFill>
                <a:latin typeface="Arial"/>
              </a:defRPr>
            </a:pPr>
            <a:r>
              <a:t>•  Commander ou réserver directement sur WhatsApp (+223 98 34 59 71).</a:t>
            </a:r>
          </a:p>
          <a:p>
            <a:pPr>
              <a:spcAft>
                <a:spcPts val="600"/>
              </a:spcAft>
              <a:defRPr sz="1100">
                <a:solidFill>
                  <a:srgbClr val="1E293B"/>
                </a:solidFill>
                <a:latin typeface="Arial"/>
              </a:defRPr>
            </a:pPr>
            <a:r>
              <a:t>•  Consulter l'adresse géographique et le plan d'accès vers Dialakorobougou.</a:t>
            </a:r>
          </a:p>
        </p:txBody>
      </p:sp>
      <p:sp>
        <p:nvSpPr>
          <p:cNvPr id="13" name="Rounded Rectangle 12"/>
          <p:cNvSpPr/>
          <p:nvPr/>
        </p:nvSpPr>
        <p:spPr>
          <a:xfrm>
            <a:off x="5212080" y="3840480"/>
            <a:ext cx="621792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0" y="3840480"/>
            <a:ext cx="621792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40680" y="4023360"/>
            <a:ext cx="5760720" cy="2194560"/>
          </a:xfrm>
          <a:prstGeom prst="rect">
            <a:avLst/>
          </a:prstGeom>
          <a:noFill/>
        </p:spPr>
        <p:txBody>
          <a:bodyPr wrap="square" lIns="0" tIns="0" rIns="0" bIns="0">
            <a:spAutoFit/>
          </a:bodyPr>
          <a:lstStyle/>
          <a:p>
            <a:pPr>
              <a:spcAft>
                <a:spcPts val="1000"/>
              </a:spcAft>
              <a:defRPr sz="1400" b="1">
                <a:solidFill>
                  <a:srgbClr val="125C36"/>
                </a:solidFill>
                <a:latin typeface="Arial"/>
              </a:defRPr>
            </a:pPr>
            <a:r>
              <a:t>Acteur Secondaire : Gérant de la Boutique</a:t>
            </a:r>
          </a:p>
          <a:p>
            <a:pPr>
              <a:spcAft>
                <a:spcPts val="600"/>
              </a:spcAft>
              <a:defRPr sz="1100">
                <a:solidFill>
                  <a:srgbClr val="1E293B"/>
                </a:solidFill>
                <a:latin typeface="Arial"/>
              </a:defRPr>
            </a:pPr>
            <a:r>
              <a:t>•  Réceptionner des messages de commande clairs et contextualisés sur WhatsApp.</a:t>
            </a:r>
          </a:p>
          <a:p>
            <a:pPr>
              <a:spcAft>
                <a:spcPts val="600"/>
              </a:spcAft>
              <a:defRPr sz="1100">
                <a:solidFill>
                  <a:srgbClr val="1E293B"/>
                </a:solidFill>
                <a:latin typeface="Arial"/>
              </a:defRPr>
            </a:pPr>
            <a:r>
              <a:t>•  Actualiser le catalogue avec les nouvelles photos au format WebP.</a:t>
            </a:r>
          </a:p>
          <a:p>
            <a:pPr>
              <a:spcAft>
                <a:spcPts val="600"/>
              </a:spcAft>
              <a:defRPr sz="1100">
                <a:solidFill>
                  <a:srgbClr val="1E293B"/>
                </a:solidFill>
                <a:latin typeface="Arial"/>
              </a:defRPr>
            </a:pPr>
            <a:r>
              <a:t>•  Valider les disponibilités de pointures et planifier les livraisons par mototaxi.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CHOIX D'INGÉNIERIE LOGICIELLE</a:t>
            </a:r>
          </a:p>
          <a:p>
            <a:pPr>
              <a:defRPr sz="2000" b="1">
                <a:solidFill>
                  <a:srgbClr val="125C36"/>
                </a:solidFill>
                <a:latin typeface="Arial"/>
              </a:defRPr>
            </a:pPr>
            <a:r>
              <a:t>Réalisation Technique &amp; Architecture Front-End</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9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7315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12064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466344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Technologies Front-End Retenues</a:t>
            </a:r>
          </a:p>
          <a:p>
            <a:pPr>
              <a:spcAft>
                <a:spcPts val="600"/>
              </a:spcAft>
              <a:defRPr sz="1100">
                <a:solidFill>
                  <a:srgbClr val="1E293B"/>
                </a:solidFill>
                <a:latin typeface="Arial"/>
              </a:defRPr>
            </a:pPr>
            <a:r>
              <a:t>•  HTML5 Sémantique : Balises W3C (&lt;header&gt;, &lt;article&gt;, &lt;section&gt;) assurant une structure propre et un bon référencement naturel (SEO).</a:t>
            </a:r>
          </a:p>
          <a:p>
            <a:pPr>
              <a:spcAft>
                <a:spcPts val="600"/>
              </a:spcAft>
              <a:defRPr sz="1100">
                <a:solidFill>
                  <a:srgbClr val="1E293B"/>
                </a:solidFill>
                <a:latin typeface="Arial"/>
              </a:defRPr>
            </a:pPr>
            <a:r>
              <a:t>•  Bootstrap 5.3 : Système de grille flexible 12 colonnes garantissant l'alignement parfait sur tous les écrans.</a:t>
            </a:r>
          </a:p>
          <a:p>
            <a:pPr>
              <a:spcAft>
                <a:spcPts val="600"/>
              </a:spcAft>
              <a:defRPr sz="1100">
                <a:solidFill>
                  <a:srgbClr val="1E293B"/>
                </a:solidFill>
                <a:latin typeface="Arial"/>
              </a:defRPr>
            </a:pPr>
            <a:r>
              <a:t>•  Tailwind CSS CDN : Moteur de style utilitaire apportant l'élégance moderne (contrastes soignés, ombres douces, palette de marque).</a:t>
            </a:r>
          </a:p>
          <a:p>
            <a:pPr>
              <a:spcAft>
                <a:spcPts val="600"/>
              </a:spcAft>
              <a:defRPr sz="1100">
                <a:solidFill>
                  <a:srgbClr val="1E293B"/>
                </a:solidFill>
                <a:latin typeface="Arial"/>
              </a:defRPr>
            </a:pPr>
            <a:r>
              <a:t>•  JavaScript Vanilla (ES6) : Code natif sans bibliothèque lourde pour un filtrage instantané sans aucun ralentissement.</a:t>
            </a:r>
          </a:p>
        </p:txBody>
      </p:sp>
      <p:sp>
        <p:nvSpPr>
          <p:cNvPr id="12" name="Rounded Rectangle 11"/>
          <p:cNvSpPr/>
          <p:nvPr/>
        </p:nvSpPr>
        <p:spPr>
          <a:xfrm>
            <a:off x="6217920" y="1371600"/>
            <a:ext cx="521208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521208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645920"/>
            <a:ext cx="4663440" cy="4389120"/>
          </a:xfrm>
          <a:prstGeom prst="rect">
            <a:avLst/>
          </a:prstGeom>
          <a:noFill/>
        </p:spPr>
        <p:txBody>
          <a:bodyPr wrap="none">
            <a:spAutoFit/>
          </a:bodyPr>
          <a:lstStyle/>
          <a:p>
            <a:pPr>
              <a:spcAft>
                <a:spcPts val="1200"/>
              </a:spcAft>
              <a:defRPr sz="1400" b="1">
                <a:solidFill>
                  <a:srgbClr val="125C36"/>
                </a:solidFill>
                <a:latin typeface="Arial"/>
              </a:defRPr>
            </a:pPr>
            <a:r>
              <a:t>Optimisation Réseau Spéciale Bamako</a:t>
            </a:r>
          </a:p>
          <a:p>
            <a:pPr>
              <a:defRPr sz="1100" b="1">
                <a:solidFill>
                  <a:srgbClr val="1E293B"/>
                </a:solidFill>
                <a:latin typeface="Arial"/>
              </a:defRPr>
            </a:pPr>
            <a:r>
              <a:t>•  Format des photos : Format moderne Google WebP</a:t>
            </a:r>
          </a:p>
          <a:p>
            <a:pPr>
              <a:spcAft>
                <a:spcPts val="600"/>
              </a:spcAft>
              <a:defRPr sz="1000">
                <a:solidFill>
                  <a:srgbClr val="D62828"/>
                </a:solidFill>
                <a:latin typeface="Arial"/>
              </a:defRPr>
            </a:pPr>
            <a:r>
              <a:t>    ↳ -75 % de poids comparé au JPG</a:t>
            </a:r>
          </a:p>
          <a:p>
            <a:pPr>
              <a:defRPr sz="1100" b="1">
                <a:solidFill>
                  <a:srgbClr val="1E293B"/>
                </a:solidFill>
                <a:latin typeface="Arial"/>
              </a:defRPr>
            </a:pPr>
            <a:r>
              <a:t>•  Poids total de la page : Moins de 450 Ko</a:t>
            </a:r>
          </a:p>
          <a:p>
            <a:pPr>
              <a:spcAft>
                <a:spcPts val="600"/>
              </a:spcAft>
              <a:defRPr sz="1000">
                <a:solidFill>
                  <a:srgbClr val="D62828"/>
                </a:solidFill>
                <a:latin typeface="Arial"/>
              </a:defRPr>
            </a:pPr>
            <a:r>
              <a:t>    ↳ Très économe en forfait Internet</a:t>
            </a:r>
          </a:p>
          <a:p>
            <a:pPr>
              <a:defRPr sz="1100" b="1">
                <a:solidFill>
                  <a:srgbClr val="1E293B"/>
                </a:solidFill>
                <a:latin typeface="Arial"/>
              </a:defRPr>
            </a:pPr>
            <a:r>
              <a:t>•  Vitesse de chargement : Inférieure à 1 seconde</a:t>
            </a:r>
          </a:p>
          <a:p>
            <a:pPr>
              <a:spcAft>
                <a:spcPts val="600"/>
              </a:spcAft>
              <a:defRPr sz="1000">
                <a:solidFill>
                  <a:srgbClr val="D62828"/>
                </a:solidFill>
                <a:latin typeface="Arial"/>
              </a:defRPr>
            </a:pPr>
            <a:r>
              <a:t>    ↳ Instantané sur réseau 3G/4G</a:t>
            </a:r>
          </a:p>
          <a:p>
            <a:pPr>
              <a:defRPr sz="1100" b="1">
                <a:solidFill>
                  <a:srgbClr val="1E293B"/>
                </a:solidFill>
                <a:latin typeface="Arial"/>
              </a:defRPr>
            </a:pPr>
            <a:r>
              <a:t>•  Chargement différé : Attribut loading='lazy'</a:t>
            </a:r>
          </a:p>
          <a:p>
            <a:pPr>
              <a:spcAft>
                <a:spcPts val="600"/>
              </a:spcAft>
              <a:defRPr sz="1000">
                <a:solidFill>
                  <a:srgbClr val="D62828"/>
                </a:solidFill>
                <a:latin typeface="Arial"/>
              </a:defRPr>
            </a:pPr>
            <a:r>
              <a:t>    ↳ Télécharge uniquement les photos visibles</a:t>
            </a:r>
          </a:p>
          <a:p>
            <a:pPr>
              <a:defRPr sz="1100" b="1">
                <a:solidFill>
                  <a:srgbClr val="1E293B"/>
                </a:solidFill>
                <a:latin typeface="Arial"/>
              </a:defRPr>
            </a:pPr>
            <a:r>
              <a:t>•  Sécurité des données : Certificat SSL/TLS (HTTPS)</a:t>
            </a:r>
          </a:p>
          <a:p>
            <a:pPr>
              <a:spcAft>
                <a:spcPts val="600"/>
              </a:spcAft>
              <a:defRPr sz="1000">
                <a:solidFill>
                  <a:srgbClr val="D62828"/>
                </a:solidFill>
                <a:latin typeface="Arial"/>
              </a:defRPr>
            </a:pPr>
            <a:r>
              <a:t>    ↳ Navigation chiffrée et sécurisée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MESURE D'IMPACT RÉEL</a:t>
            </a:r>
          </a:p>
          <a:p>
            <a:pPr>
              <a:defRPr sz="2000" b="1">
                <a:solidFill>
                  <a:srgbClr val="125C36"/>
                </a:solidFill>
                <a:latin typeface="Arial"/>
              </a:defRPr>
            </a:pPr>
            <a:r>
              <a:t>Résultats Obtenus &amp; Validation par l'Entreprise</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10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7315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12064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466344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Validation par les Clients (Enquête)</a:t>
            </a:r>
          </a:p>
          <a:p>
            <a:pPr>
              <a:spcAft>
                <a:spcPts val="600"/>
              </a:spcAft>
              <a:defRPr sz="1100">
                <a:solidFill>
                  <a:srgbClr val="1E293B"/>
                </a:solidFill>
                <a:latin typeface="Arial"/>
              </a:defRPr>
            </a:pPr>
            <a:r>
              <a:t>•  95,5 % plébiscitent le bouton de commande WhatsApp pré-rempli.</a:t>
            </a:r>
          </a:p>
          <a:p>
            <a:pPr>
              <a:spcAft>
                <a:spcPts val="600"/>
              </a:spcAft>
              <a:defRPr sz="1100">
                <a:solidFill>
                  <a:srgbClr val="1E293B"/>
                </a:solidFill>
                <a:latin typeface="Arial"/>
              </a:defRPr>
            </a:pPr>
            <a:r>
              <a:t>•  93,3 % jugent le catalogue permanent indispensable pour faire leur choix en toute sérénité.</a:t>
            </a:r>
          </a:p>
          <a:p>
            <a:pPr>
              <a:spcAft>
                <a:spcPts val="600"/>
              </a:spcAft>
              <a:defRPr sz="1100">
                <a:solidFill>
                  <a:srgbClr val="1E293B"/>
                </a:solidFill>
                <a:latin typeface="Arial"/>
              </a:defRPr>
            </a:pPr>
            <a:r>
              <a:t>•  Satisfaction ergonomique mesurée à 4,91 / 5 selon les critères scientifiques de Bastien &amp; Scapin.</a:t>
            </a:r>
          </a:p>
          <a:p>
            <a:pPr>
              <a:spcAft>
                <a:spcPts val="600"/>
              </a:spcAft>
              <a:defRPr sz="1100">
                <a:solidFill>
                  <a:srgbClr val="1E293B"/>
                </a:solidFill>
                <a:latin typeface="Arial"/>
              </a:defRPr>
            </a:pPr>
            <a:r>
              <a:t>•  Disparition des litiges sur les prix grâce à la transparence totale en FCFA.</a:t>
            </a:r>
          </a:p>
        </p:txBody>
      </p:sp>
      <p:sp>
        <p:nvSpPr>
          <p:cNvPr id="12" name="Rounded Rectangle 11"/>
          <p:cNvSpPr/>
          <p:nvPr/>
        </p:nvSpPr>
        <p:spPr>
          <a:xfrm>
            <a:off x="6217920" y="137160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521208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554480"/>
            <a:ext cx="475488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Bénéfices pour la Boutique CFASHOP</a:t>
            </a:r>
          </a:p>
          <a:p>
            <a:pPr>
              <a:spcAft>
                <a:spcPts val="600"/>
              </a:spcAft>
              <a:defRPr sz="1100">
                <a:solidFill>
                  <a:srgbClr val="1E293B"/>
                </a:solidFill>
                <a:latin typeface="Arial"/>
              </a:defRPr>
            </a:pPr>
            <a:r>
              <a:t>•  Temps de traitement divisé par 4 : les commandes arrivent précises avec taille et prix.</a:t>
            </a:r>
          </a:p>
          <a:p>
            <a:pPr>
              <a:spcAft>
                <a:spcPts val="600"/>
              </a:spcAft>
              <a:defRPr sz="1100">
                <a:solidFill>
                  <a:srgbClr val="1E293B"/>
                </a:solidFill>
                <a:latin typeface="Arial"/>
              </a:defRPr>
            </a:pPr>
            <a:r>
              <a:t>•  Valorisation de marque : transition réussie du statut de revendeur informel vers celui de boutique de référence à Bamako.</a:t>
            </a:r>
          </a:p>
          <a:p>
            <a:pPr>
              <a:spcAft>
                <a:spcPts val="600"/>
              </a:spcAft>
              <a:defRPr sz="1100">
                <a:solidFill>
                  <a:srgbClr val="1E293B"/>
                </a:solidFill>
                <a:latin typeface="Arial"/>
              </a:defRPr>
            </a:pPr>
            <a:r>
              <a:t>•  Visites physiques stimulées : augmentation de la fréquentation en magasin à Dialakorobougou.</a:t>
            </a:r>
          </a:p>
          <a:p>
            <a:pPr>
              <a:spcAft>
                <a:spcPts val="600"/>
              </a:spcAft>
              <a:defRPr sz="1100">
                <a:solidFill>
                  <a:srgbClr val="1E293B"/>
                </a:solidFill>
                <a:latin typeface="Arial"/>
              </a:defRPr>
            </a:pPr>
            <a:r>
              <a:t>•  Attestation officielle : fin de projet et mise en exploitation validée par le gérant Moussa Traoré.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PREUVE PAR L'USAGE</a:t>
            </a:r>
          </a:p>
          <a:p>
            <a:pPr>
              <a:defRPr sz="2000" b="1">
                <a:solidFill>
                  <a:srgbClr val="125C36"/>
                </a:solidFill>
                <a:latin typeface="Arial"/>
              </a:defRPr>
            </a:pPr>
            <a:r>
              <a:t>Difficultés Rencontrées &amp; Démonstration du Site</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11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7315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120640" cy="73152"/>
          </a:xfrm>
          <a:prstGeom prst="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466344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Difficultés Surmontées</a:t>
            </a:r>
          </a:p>
          <a:p>
            <a:pPr>
              <a:spcAft>
                <a:spcPts val="600"/>
              </a:spcAft>
              <a:defRPr sz="1100">
                <a:solidFill>
                  <a:srgbClr val="1E293B"/>
                </a:solidFill>
                <a:latin typeface="Arial"/>
              </a:defRPr>
            </a:pPr>
            <a:r>
              <a:t>•  1. Fluctuations du réseau mobile à Bamako :</a:t>
            </a:r>
            <a:br/>
            <a:r>
              <a:t>    ↳ Résolu par la conversion d'images en WebP et le lazy loading.</a:t>
            </a:r>
          </a:p>
          <a:p>
            <a:pPr>
              <a:spcAft>
                <a:spcPts val="600"/>
              </a:spcAft>
              <a:defRPr sz="1100">
                <a:solidFill>
                  <a:srgbClr val="1E293B"/>
                </a:solidFill>
                <a:latin typeface="Arial"/>
              </a:defRPr>
            </a:pPr>
            <a:r>
              <a:t>•  2. Harmonisation des photographies de produits :</a:t>
            </a:r>
            <a:br/>
            <a:r>
              <a:t>    ↳ Cadrage unifié sur fond propre pour un rendu luxe cohérent.</a:t>
            </a:r>
          </a:p>
          <a:p>
            <a:pPr>
              <a:spcAft>
                <a:spcPts val="600"/>
              </a:spcAft>
              <a:defRPr sz="1100">
                <a:solidFill>
                  <a:srgbClr val="1E293B"/>
                </a:solidFill>
                <a:latin typeface="Arial"/>
              </a:defRPr>
            </a:pPr>
            <a:r>
              <a:t>•  3. Emploi du temps chargé du gérant :</a:t>
            </a:r>
            <a:br/>
            <a:r>
              <a:t>    ↳ Séances de recueil de besoins adaptées aux heures creuses du magasin.</a:t>
            </a:r>
          </a:p>
        </p:txBody>
      </p:sp>
      <p:sp>
        <p:nvSpPr>
          <p:cNvPr id="12" name="Rounded Rectangle 11"/>
          <p:cNvSpPr/>
          <p:nvPr/>
        </p:nvSpPr>
        <p:spPr>
          <a:xfrm>
            <a:off x="6217920" y="137160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521208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554480"/>
            <a:ext cx="475488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Aperçu de la Démonstration en Direct</a:t>
            </a:r>
          </a:p>
          <a:p>
            <a:pPr>
              <a:spcAft>
                <a:spcPts val="600"/>
              </a:spcAft>
              <a:defRPr sz="1100">
                <a:solidFill>
                  <a:srgbClr val="1E293B"/>
                </a:solidFill>
                <a:latin typeface="Arial"/>
              </a:defRPr>
            </a:pPr>
            <a:r>
              <a:t>•  Page d'accueil : Univers sobre et prestigieux (Noir, Blanc, Or métallisé).</a:t>
            </a:r>
          </a:p>
          <a:p>
            <a:pPr>
              <a:spcAft>
                <a:spcPts val="600"/>
              </a:spcAft>
              <a:defRPr sz="1100">
                <a:solidFill>
                  <a:srgbClr val="1E293B"/>
                </a:solidFill>
                <a:latin typeface="Arial"/>
              </a:defRPr>
            </a:pPr>
            <a:r>
              <a:t>•  Lookbook &amp; Catégories : Filtrage instantané des Sneakers US (Jordan, Travis Scott, Dunk).</a:t>
            </a:r>
          </a:p>
          <a:p>
            <a:pPr>
              <a:spcAft>
                <a:spcPts val="600"/>
              </a:spcAft>
              <a:defRPr sz="1100">
                <a:solidFill>
                  <a:srgbClr val="1E293B"/>
                </a:solidFill>
                <a:latin typeface="Arial"/>
              </a:defRPr>
            </a:pPr>
            <a:r>
              <a:t>•  Bouton WhatsApp (+223 98 34 59 71) : Déclenchement fluide du message pré-rempli.</a:t>
            </a:r>
          </a:p>
          <a:p>
            <a:pPr>
              <a:spcAft>
                <a:spcPts val="600"/>
              </a:spcAft>
              <a:defRPr sz="1100">
                <a:solidFill>
                  <a:srgbClr val="1E293B"/>
                </a:solidFill>
                <a:latin typeface="Arial"/>
              </a:defRPr>
            </a:pPr>
            <a:r>
              <a:t>•  Page Contact : Carte d'accès et repères visuels clairs à Dialakorobougou.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7772400" cy="54864"/>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0" y="1024128"/>
            <a:ext cx="4419295" cy="54864"/>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
            <a:ext cx="9601200" cy="868680"/>
          </a:xfrm>
          <a:prstGeom prst="rect">
            <a:avLst/>
          </a:prstGeom>
          <a:noFill/>
        </p:spPr>
        <p:txBody>
          <a:bodyPr wrap="square" lIns="0" tIns="0" rIns="0" bIns="0">
            <a:spAutoFit/>
          </a:bodyPr>
          <a:lstStyle/>
          <a:p>
            <a:pPr>
              <a:defRPr sz="1000" b="1">
                <a:solidFill>
                  <a:srgbClr val="D62828"/>
                </a:solidFill>
                <a:latin typeface="Arial"/>
              </a:defRPr>
            </a:pPr>
            <a:r>
              <a:t>CLÔTURE DE LA SOUTENANCE</a:t>
            </a:r>
          </a:p>
          <a:p>
            <a:pPr>
              <a:defRPr sz="2000" b="1">
                <a:solidFill>
                  <a:srgbClr val="125C36"/>
                </a:solidFill>
                <a:latin typeface="Arial"/>
              </a:defRPr>
            </a:pPr>
            <a:r>
              <a:t>Conclusion, Perspectives &amp; Remerciements</a:t>
            </a:r>
          </a:p>
        </p:txBody>
      </p:sp>
      <p:sp>
        <p:nvSpPr>
          <p:cNvPr id="7" name="Rounded Rectangle 6"/>
          <p:cNvSpPr/>
          <p:nvPr/>
        </p:nvSpPr>
        <p:spPr>
          <a:xfrm>
            <a:off x="10607040" y="228600"/>
            <a:ext cx="914400" cy="411480"/>
          </a:xfrm>
          <a:prstGeom prst="roundRect">
            <a:avLst/>
          </a:prstGeom>
          <a:solidFill>
            <a:srgbClr val="125C36"/>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Arial"/>
              </a:defRPr>
            </a:pPr>
            <a:r>
              <a:t>12 / 12</a:t>
            </a:r>
          </a:p>
        </p:txBody>
      </p:sp>
      <p:sp>
        <p:nvSpPr>
          <p:cNvPr id="8" name="TextBox 7"/>
          <p:cNvSpPr txBox="1"/>
          <p:nvPr/>
        </p:nvSpPr>
        <p:spPr>
          <a:xfrm>
            <a:off x="731520" y="6537960"/>
            <a:ext cx="10789920" cy="274320"/>
          </a:xfrm>
          <a:prstGeom prst="rect">
            <a:avLst/>
          </a:prstGeom>
          <a:noFill/>
        </p:spPr>
        <p:txBody>
          <a:bodyPr wrap="none" lIns="0" tIns="0" rIns="0" bIns="0">
            <a:spAutoFit/>
          </a:bodyPr>
          <a:lstStyle/>
          <a:p>
            <a:pPr>
              <a:defRPr sz="900">
                <a:solidFill>
                  <a:srgbClr val="64748B"/>
                </a:solidFill>
                <a:latin typeface="Arial"/>
              </a:defRPr>
            </a:pPr>
            <a:r>
              <a:t>Soutenance de Mémoire — Cheick Tidiane FOMBA — Boutique CFASHOP Bamako (Dialakorobougou)</a:t>
            </a:r>
          </a:p>
        </p:txBody>
      </p:sp>
      <p:sp>
        <p:nvSpPr>
          <p:cNvPr id="9" name="Rounded Rectangle 8"/>
          <p:cNvSpPr/>
          <p:nvPr/>
        </p:nvSpPr>
        <p:spPr>
          <a:xfrm>
            <a:off x="7315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120640" cy="73152"/>
          </a:xfrm>
          <a:prstGeom prst="rect">
            <a:avLst/>
          </a:prstGeom>
          <a:solidFill>
            <a:srgbClr val="228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54480"/>
            <a:ext cx="466344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Conclusion &amp; Perspectives d'Avenir</a:t>
            </a:r>
          </a:p>
          <a:p>
            <a:pPr>
              <a:spcAft>
                <a:spcPts val="600"/>
              </a:spcAft>
              <a:defRPr sz="1100">
                <a:solidFill>
                  <a:srgbClr val="1E293B"/>
                </a:solidFill>
                <a:latin typeface="Arial"/>
              </a:defRPr>
            </a:pPr>
            <a:r>
              <a:t>•  Enseignement majeur : Une solution informatique est réussie lorsqu'elle répond avec simplicité et élégance à un vrai besoin humain.</a:t>
            </a:r>
          </a:p>
          <a:p>
            <a:pPr>
              <a:spcAft>
                <a:spcPts val="600"/>
              </a:spcAft>
              <a:defRPr sz="1100">
                <a:solidFill>
                  <a:srgbClr val="1E293B"/>
                </a:solidFill>
                <a:latin typeface="Arial"/>
              </a:defRPr>
            </a:pPr>
            <a:r>
              <a:t>•  Perspective 1 (Court terme) : Intégration d'un guide interactif d'aide au choix des pointures.</a:t>
            </a:r>
          </a:p>
          <a:p>
            <a:pPr>
              <a:spcAft>
                <a:spcPts val="600"/>
              </a:spcAft>
              <a:defRPr sz="1100">
                <a:solidFill>
                  <a:srgbClr val="1E293B"/>
                </a:solidFill>
                <a:latin typeface="Arial"/>
              </a:defRPr>
            </a:pPr>
            <a:r>
              <a:t>•  Perspective 2 (Moyen terme) : Système d'alerte automatique WhatsApp/SMS lors des nouveaux arrivages exclusifs.</a:t>
            </a:r>
          </a:p>
          <a:p>
            <a:pPr>
              <a:spcAft>
                <a:spcPts val="600"/>
              </a:spcAft>
              <a:defRPr sz="1100">
                <a:solidFill>
                  <a:srgbClr val="1E293B"/>
                </a:solidFill>
                <a:latin typeface="Arial"/>
              </a:defRPr>
            </a:pPr>
            <a:r>
              <a:t>•  Perspective 3 : Tableau de bord simplifié de gestion de stock pour le gérant.</a:t>
            </a:r>
          </a:p>
        </p:txBody>
      </p:sp>
      <p:sp>
        <p:nvSpPr>
          <p:cNvPr id="12" name="Rounded Rectangle 11"/>
          <p:cNvSpPr/>
          <p:nvPr/>
        </p:nvSpPr>
        <p:spPr>
          <a:xfrm>
            <a:off x="6217920" y="137160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5212080" cy="73152"/>
          </a:xfrm>
          <a:prstGeom prst="rect">
            <a:avLst/>
          </a:prstGeom>
          <a:solidFill>
            <a:srgbClr val="D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554480"/>
            <a:ext cx="4754880" cy="4572000"/>
          </a:xfrm>
          <a:prstGeom prst="rect">
            <a:avLst/>
          </a:prstGeom>
          <a:noFill/>
        </p:spPr>
        <p:txBody>
          <a:bodyPr wrap="square" lIns="0" tIns="0" rIns="0" bIns="0">
            <a:spAutoFit/>
          </a:bodyPr>
          <a:lstStyle/>
          <a:p>
            <a:pPr>
              <a:spcAft>
                <a:spcPts val="1000"/>
              </a:spcAft>
              <a:defRPr sz="1400" b="1">
                <a:solidFill>
                  <a:srgbClr val="125C36"/>
                </a:solidFill>
                <a:latin typeface="Arial"/>
              </a:defRPr>
            </a:pPr>
            <a:r>
              <a:t>Remerciements Chaleureux</a:t>
            </a:r>
          </a:p>
          <a:p>
            <a:pPr>
              <a:spcAft>
                <a:spcPts val="600"/>
              </a:spcAft>
              <a:defRPr sz="1100">
                <a:solidFill>
                  <a:srgbClr val="1E293B"/>
                </a:solidFill>
                <a:latin typeface="Arial"/>
              </a:defRPr>
            </a:pPr>
            <a:r>
              <a:t>•  À Monsieur mon Directeur de Mémoire : Pour sa constante bienveillance, sa disponibilité et ses conseils précieux.</a:t>
            </a:r>
          </a:p>
          <a:p>
            <a:pPr>
              <a:spcAft>
                <a:spcPts val="600"/>
              </a:spcAft>
              <a:defRPr sz="1100">
                <a:solidFill>
                  <a:srgbClr val="1E293B"/>
                </a:solidFill>
                <a:latin typeface="Arial"/>
              </a:defRPr>
            </a:pPr>
            <a:r>
              <a:t>•  À Messieurs les Membres du Jury : Pour le temps accordé à l'évaluation critique de ce travail.</a:t>
            </a:r>
          </a:p>
          <a:p>
            <a:pPr>
              <a:spcAft>
                <a:spcPts val="600"/>
              </a:spcAft>
              <a:defRPr sz="1100">
                <a:solidFill>
                  <a:srgbClr val="1E293B"/>
                </a:solidFill>
                <a:latin typeface="Arial"/>
              </a:defRPr>
            </a:pPr>
            <a:r>
              <a:t>•  À l'ensemble du Corps Professoral : Pour la qualité des enseignements reçus.</a:t>
            </a:r>
          </a:p>
          <a:p>
            <a:pPr>
              <a:spcAft>
                <a:spcPts val="600"/>
              </a:spcAft>
              <a:defRPr sz="1100">
                <a:solidFill>
                  <a:srgbClr val="1E293B"/>
                </a:solidFill>
                <a:latin typeface="Arial"/>
              </a:defRPr>
            </a:pPr>
            <a:r>
              <a:t>•  À la Boutique CFASHOP Bamako : Pour sa confiance et son accueil fraternel.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